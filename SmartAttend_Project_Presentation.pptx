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637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audience. Introduce SmartAttend as a production-grade, cryptographically secured attendance platform built for real classroom use — not a toy assignment. Mention institution, program and semester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pain point briefly. Emphasize that these are structural weaknesses in manual and static-QR systems, not hypothetical edge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SmartAttend as a nine-stage pipeline running end to end for every lecture: from the timetable entry to the final analytics report, each step is automated and cryptographically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all six innovations quickly, then land on the KPI strip — these are the numbers that make the engineering claims credible: 15-second QR rotation, HMAC-SHA256 signing, sub-19ms average latency, 48 passing tests, zero duplicates.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top-to-bottom: presentation, API, security, data, real-time, reporting. Emphasize that the security layer sits between the API and the data layer for every request — nothing reaches the database unauthenticated.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security slide. Explain the rotating HMAC-signed QR token first, then the two database-level uniqueness constraints that stop one student or one device from being used twice. Close with the end-to-end validation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Narrate the ten-step timeline as a single lecture, start to finish. Emphasize that steps 7-9 — validation, recording and the live broadcast — all happen within roughly the same second per scan.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independent but linked systems: the lifecycle state machine that faculty control, and the always-on real-time pipeline that pushes every scan to the dashboard within under a second.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role sees exactly what it needs: students see their own standing, faculty control the live session, and admins get institution-wide visibility and audit trails.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factual: the only stated thresholds are 75.0% safe and below that flagged. Do not imply extra tiers beyond Safe, Monitor, Alert.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least-privilege access per role, then the full list of security technologies underpinning the platform, and close on audit-trail accountability for manual overrides.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four KPI numbers, then list the nine categories the automated suite covers, and close on the exact boundary test: 75.00% passes, 74.99% is flagged.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both burst tests side by side. The headline: 100% success rate at both 33 and 60 concurrent scans, sub-50ms peak latency, and zero lock errors or duplicates in either scenario. Do not extrapolate beyond these two tested scenarios.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live prototype in the browser here if presenting in person. Walk the audience through the nine-step demo flow on the right while showing the real screens.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Move quickly through the seven categories — the point is breadth and coherence of the stack, not a deep dive on any one technology.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tying the five pillars back to the validated numbers, then the three phase-2 items as forward-looking, clearly not-yet-built roadmap items. End on the tagline.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8.png"/><Relationship Id="rId10" Type="http://schemas.openxmlformats.org/officeDocument/2006/relationships/image" Target="../media/image16.png"/><Relationship Id="rId4" Type="http://schemas.openxmlformats.org/officeDocument/2006/relationships/image" Target="../media/image11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3.png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6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28.png"/><Relationship Id="rId10" Type="http://schemas.openxmlformats.org/officeDocument/2006/relationships/image" Target="../media/image23.png"/><Relationship Id="rId4" Type="http://schemas.openxmlformats.org/officeDocument/2006/relationships/image" Target="../media/image27.png"/><Relationship Id="rId9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3.png"/><Relationship Id="rId4" Type="http://schemas.openxmlformats.org/officeDocument/2006/relationships/image" Target="../media/image24.png"/><Relationship Id="rId9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-2286000"/>
            <a:ext cx="6400800" cy="6400800"/>
          </a:xfrm>
          <a:prstGeom prst="ellipse">
            <a:avLst/>
          </a:prstGeom>
          <a:solidFill>
            <a:srgbClr val="0F172A">
              <a:alpha val="6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SmartAttend</a:t>
            </a:r>
            <a:endParaRPr lang="en-US" sz="6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1460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Timetable-Driven Anti-Proxy College Attendance Management Platform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22960" y="3246120"/>
            <a:ext cx="896112" cy="384048"/>
          </a:xfrm>
          <a:prstGeom prst="roundRect">
            <a:avLst>
              <a:gd name="adj" fmla="val 19048"/>
            </a:avLst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246120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83664" y="3246120"/>
            <a:ext cx="1197864" cy="384048"/>
          </a:xfrm>
          <a:prstGeom prst="roundRect">
            <a:avLst>
              <a:gd name="adj" fmla="val 19048"/>
            </a:avLst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83664" y="3246120"/>
            <a:ext cx="1197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324612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46120" y="32461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10912" y="3246120"/>
            <a:ext cx="1197864" cy="384048"/>
          </a:xfrm>
          <a:prstGeom prst="roundRect">
            <a:avLst>
              <a:gd name="adj" fmla="val 19048"/>
            </a:avLst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10912" y="3246120"/>
            <a:ext cx="1197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3977640"/>
            <a:ext cx="1600200" cy="1600200"/>
          </a:xfrm>
          <a:prstGeom prst="roundRect">
            <a:avLst>
              <a:gd name="adj" fmla="val 685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15" name="Image 0" descr="./icons/mobile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4160520"/>
            <a:ext cx="594360" cy="59436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685800" y="49377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Mobile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2423160" y="4773168"/>
            <a:ext cx="32004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dash"/>
          </a:ln>
        </p:spPr>
      </p:sp>
      <p:sp>
        <p:nvSpPr>
          <p:cNvPr id="18" name="Shape 15"/>
          <p:cNvSpPr/>
          <p:nvPr/>
        </p:nvSpPr>
        <p:spPr>
          <a:xfrm>
            <a:off x="2971800" y="3977640"/>
            <a:ext cx="1600200" cy="1600200"/>
          </a:xfrm>
          <a:prstGeom prst="roundRect">
            <a:avLst>
              <a:gd name="adj" fmla="val 685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19" name="Image 1" descr="./icons/qrcode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4160520"/>
            <a:ext cx="594360" cy="59436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2834640" y="49377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4572000" y="4773168"/>
            <a:ext cx="32004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dash"/>
          </a:ln>
        </p:spPr>
      </p:sp>
      <p:sp>
        <p:nvSpPr>
          <p:cNvPr id="22" name="Shape 18"/>
          <p:cNvSpPr/>
          <p:nvPr/>
        </p:nvSpPr>
        <p:spPr>
          <a:xfrm>
            <a:off x="5120640" y="3977640"/>
            <a:ext cx="1600200" cy="1600200"/>
          </a:xfrm>
          <a:prstGeom prst="roundRect">
            <a:avLst>
              <a:gd name="adj" fmla="val 6857"/>
            </a:avLst>
          </a:prstGeom>
          <a:solidFill>
            <a:srgbClr val="0F172A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23" name="Image 2" descr="./icons/shield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4160520"/>
            <a:ext cx="594360" cy="59436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4983480" y="49377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Shield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6720840" y="4773168"/>
            <a:ext cx="32004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dash"/>
          </a:ln>
        </p:spPr>
      </p:sp>
      <p:sp>
        <p:nvSpPr>
          <p:cNvPr id="26" name="Shape 21"/>
          <p:cNvSpPr/>
          <p:nvPr/>
        </p:nvSpPr>
        <p:spPr>
          <a:xfrm>
            <a:off x="7269480" y="3977640"/>
            <a:ext cx="1600200" cy="1600200"/>
          </a:xfrm>
          <a:prstGeom prst="roundRect">
            <a:avLst>
              <a:gd name="adj" fmla="val 685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27" name="Image 3" descr="./icons/desktop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0" y="4160520"/>
            <a:ext cx="594360" cy="59436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132320" y="49377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Projector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8869680" y="4773168"/>
            <a:ext cx="32004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dash"/>
          </a:ln>
        </p:spPr>
      </p:sp>
      <p:sp>
        <p:nvSpPr>
          <p:cNvPr id="30" name="Shape 24"/>
          <p:cNvSpPr/>
          <p:nvPr/>
        </p:nvSpPr>
        <p:spPr>
          <a:xfrm>
            <a:off x="9418320" y="3977640"/>
            <a:ext cx="1600200" cy="1600200"/>
          </a:xfrm>
          <a:prstGeom prst="roundRect">
            <a:avLst>
              <a:gd name="adj" fmla="val 685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31" name="Image 4" descr="./icons/cloud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240" y="4160520"/>
            <a:ext cx="594360" cy="59436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9281160" y="49377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Backend</a:t>
            </a:r>
            <a:endParaRPr lang="en-US" sz="1050" dirty="0"/>
          </a:p>
        </p:txBody>
      </p:sp>
      <p:sp>
        <p:nvSpPr>
          <p:cNvPr id="33" name="Text 26"/>
          <p:cNvSpPr txBox="1"/>
          <p:nvPr/>
        </p:nvSpPr>
        <p:spPr>
          <a:xfrm>
            <a:off x="822960" y="6172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NSIT-IFSCS  |  Integrated B.Tech-M.Tech CSE (Cyber Security)  |  Semester III  |  Room 109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Traditional Attendance Fails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84832" cy="3246120"/>
          </a:xfrm>
          <a:prstGeom prst="roundRect">
            <a:avLst>
              <a:gd name="adj" fmla="val 438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07592" y="2121408"/>
            <a:ext cx="566928" cy="566928"/>
          </a:xfrm>
          <a:prstGeom prst="ellipse">
            <a:avLst/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6" name="Image 0" descr="./icons/clock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655" y="2257471"/>
            <a:ext cx="294803" cy="294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88036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Instructional Time Wastage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566160"/>
            <a:ext cx="1810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roll calls can consume ~10-15 minutes of a 60-minute lecture.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798064" y="1828800"/>
            <a:ext cx="2084832" cy="3246120"/>
          </a:xfrm>
          <a:prstGeom prst="roundRect">
            <a:avLst>
              <a:gd name="adj" fmla="val 438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57016" y="2121408"/>
            <a:ext cx="566928" cy="566928"/>
          </a:xfrm>
          <a:prstGeom prst="ellipse">
            <a:avLst/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11" name="Image 1" descr="./icons/users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3079" y="2257471"/>
            <a:ext cx="294803" cy="29480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935224" y="288036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Attendance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2935224" y="3566160"/>
            <a:ext cx="1810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registers allow students to sign attendance for absent classmates.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047488" y="1828800"/>
            <a:ext cx="2084832" cy="3246120"/>
          </a:xfrm>
          <a:prstGeom prst="roundRect">
            <a:avLst>
              <a:gd name="adj" fmla="val 438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806440" y="2121408"/>
            <a:ext cx="566928" cy="566928"/>
          </a:xfrm>
          <a:prstGeom prst="ellipse">
            <a:avLst/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16" name="Image 2" descr="./icons/qrcode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2503" y="2257471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184648" y="288036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QR Vulnerability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5184648" y="3566160"/>
            <a:ext cx="1810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QR codes can be photographed and forwarded on messaging apps.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296912" y="1828800"/>
            <a:ext cx="2084832" cy="3246120"/>
          </a:xfrm>
          <a:prstGeom prst="roundRect">
            <a:avLst>
              <a:gd name="adj" fmla="val 438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55864" y="2121408"/>
            <a:ext cx="566928" cy="566928"/>
          </a:xfrm>
          <a:prstGeom prst="ellipse">
            <a:avLst/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21" name="Image 3" descr="./icons/clipboard_cy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927" y="2257471"/>
            <a:ext cx="294803" cy="29480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34072" y="288036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Burden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7434072" y="3566160"/>
            <a:ext cx="1810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must manually consolidate attendance records.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546336" y="1828800"/>
            <a:ext cx="2084832" cy="3246120"/>
          </a:xfrm>
          <a:prstGeom prst="roundRect">
            <a:avLst>
              <a:gd name="adj" fmla="val 438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0305288" y="2121408"/>
            <a:ext cx="566928" cy="566928"/>
          </a:xfrm>
          <a:prstGeom prst="ellipse">
            <a:avLst/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26" name="Image 4" descr="./icons/warning_r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41351" y="2257471"/>
            <a:ext cx="294803" cy="294803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683496" y="288036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Defaulter Detection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9683496" y="3566160"/>
            <a:ext cx="1810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below the required threshold may be identified too late.</a:t>
            </a:r>
            <a:endParaRPr lang="en-US" sz="1050" dirty="0"/>
          </a:p>
        </p:txBody>
      </p:sp>
      <p:sp>
        <p:nvSpPr>
          <p:cNvPr id="29" name="Text 22"/>
          <p:cNvSpPr txBox="1"/>
          <p:nvPr/>
        </p:nvSpPr>
        <p:spPr>
          <a:xfrm>
            <a:off x="548640" y="53492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Attendance  →  Time Loss + Proxy + QR Abuse + Manual Work + Delayed Alerts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SmartAttend</a:t>
            </a:r>
            <a:endParaRPr lang="en-US" sz="900" dirty="0"/>
          </a:p>
        </p:txBody>
      </p:sp>
      <p:sp>
        <p:nvSpPr>
          <p:cNvPr id="31" name="Text 24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Introducing SmartAttend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timetable-driven, zero-trust, cryptographically secured attendance platform designed for classroom environments.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246120" cy="960120"/>
          </a:xfrm>
          <a:prstGeom prst="roundRect">
            <a:avLst>
              <a:gd name="adj" fmla="val 857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537460"/>
            <a:ext cx="457200" cy="457200"/>
          </a:xfrm>
          <a:prstGeom prst="ellipse">
            <a:avLst/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7" name="Image 0" descr="./icons/clock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647188"/>
            <a:ext cx="237744" cy="2377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228600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3383280" y="23408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3904488" y="2286000"/>
            <a:ext cx="283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206240" y="2286000"/>
            <a:ext cx="3246120" cy="960120"/>
          </a:xfrm>
          <a:prstGeom prst="roundRect">
            <a:avLst>
              <a:gd name="adj" fmla="val 857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70832" y="2537460"/>
            <a:ext cx="457200" cy="457200"/>
          </a:xfrm>
          <a:prstGeom prst="ellipse">
            <a:avLst/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13" name="Image 1" descr="./icons/teacher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2647188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983480" y="228600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Confirmation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6949440" y="23408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7470648" y="2286000"/>
            <a:ext cx="283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7772400" y="2286000"/>
            <a:ext cx="3246120" cy="960120"/>
          </a:xfrm>
          <a:prstGeom prst="roundRect">
            <a:avLst>
              <a:gd name="adj" fmla="val 857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936992" y="2537460"/>
            <a:ext cx="457200" cy="457200"/>
          </a:xfrm>
          <a:prstGeom prst="ellipse">
            <a:avLst/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19" name="Image 2" descr="./icons/qrcode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2647188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549640" y="228600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QR Generation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10515600" y="23408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40080" y="3566160"/>
            <a:ext cx="3246120" cy="960120"/>
          </a:xfrm>
          <a:prstGeom prst="roundRect">
            <a:avLst>
              <a:gd name="adj" fmla="val 857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04672" y="3817620"/>
            <a:ext cx="457200" cy="457200"/>
          </a:xfrm>
          <a:prstGeom prst="ellipse">
            <a:avLst/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24" name="Image 3" descr="./icons/mobile_cy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927348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417320" y="356616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Scan</a:t>
            </a:r>
            <a:endParaRPr lang="en-US" sz="1250" dirty="0"/>
          </a:p>
        </p:txBody>
      </p:sp>
      <p:sp>
        <p:nvSpPr>
          <p:cNvPr id="26" name="Text 20"/>
          <p:cNvSpPr txBox="1"/>
          <p:nvPr/>
        </p:nvSpPr>
        <p:spPr>
          <a:xfrm>
            <a:off x="3383280" y="362102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3904488" y="3566160"/>
            <a:ext cx="283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2"/>
          <p:cNvSpPr/>
          <p:nvPr/>
        </p:nvSpPr>
        <p:spPr>
          <a:xfrm>
            <a:off x="4206240" y="3566160"/>
            <a:ext cx="3246120" cy="960120"/>
          </a:xfrm>
          <a:prstGeom prst="roundRect">
            <a:avLst>
              <a:gd name="adj" fmla="val 857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370832" y="3817620"/>
            <a:ext cx="457200" cy="457200"/>
          </a:xfrm>
          <a:prstGeom prst="ellipse">
            <a:avLst/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30" name="Image 4" descr="./icons/key_cy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0560" y="3927348"/>
            <a:ext cx="237744" cy="23774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4983480" y="356616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Verification</a:t>
            </a:r>
            <a:endParaRPr lang="en-US" sz="1250" dirty="0"/>
          </a:p>
        </p:txBody>
      </p:sp>
      <p:sp>
        <p:nvSpPr>
          <p:cNvPr id="32" name="Text 25"/>
          <p:cNvSpPr txBox="1"/>
          <p:nvPr/>
        </p:nvSpPr>
        <p:spPr>
          <a:xfrm>
            <a:off x="6949440" y="362102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3" name="Text 26"/>
          <p:cNvSpPr txBox="1"/>
          <p:nvPr/>
        </p:nvSpPr>
        <p:spPr>
          <a:xfrm>
            <a:off x="7470648" y="3566160"/>
            <a:ext cx="283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27"/>
          <p:cNvSpPr/>
          <p:nvPr/>
        </p:nvSpPr>
        <p:spPr>
          <a:xfrm>
            <a:off x="7772400" y="3566160"/>
            <a:ext cx="3246120" cy="960120"/>
          </a:xfrm>
          <a:prstGeom prst="roundRect">
            <a:avLst>
              <a:gd name="adj" fmla="val 857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7936992" y="3817620"/>
            <a:ext cx="457200" cy="457200"/>
          </a:xfrm>
          <a:prstGeom prst="ellipse">
            <a:avLst/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36" name="Image 5" descr="./icons/fingerprint_cya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6720" y="3927348"/>
            <a:ext cx="237744" cy="237744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8549640" y="356616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+ Device Validation</a:t>
            </a:r>
            <a:endParaRPr lang="en-US" sz="1250" dirty="0"/>
          </a:p>
        </p:txBody>
      </p:sp>
      <p:sp>
        <p:nvSpPr>
          <p:cNvPr id="38" name="Text 30"/>
          <p:cNvSpPr txBox="1"/>
          <p:nvPr/>
        </p:nvSpPr>
        <p:spPr>
          <a:xfrm>
            <a:off x="10515600" y="362102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640080" y="4846320"/>
            <a:ext cx="3246120" cy="960120"/>
          </a:xfrm>
          <a:prstGeom prst="roundRect">
            <a:avLst>
              <a:gd name="adj" fmla="val 857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804672" y="5097780"/>
            <a:ext cx="457200" cy="457200"/>
          </a:xfrm>
          <a:prstGeom prst="ellipse">
            <a:avLst/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41" name="Image 6" descr="./icons/check_cya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5207508"/>
            <a:ext cx="237744" cy="237744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1417320" y="484632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Recorded</a:t>
            </a:r>
            <a:endParaRPr lang="en-US" sz="1250" dirty="0"/>
          </a:p>
        </p:txBody>
      </p:sp>
      <p:sp>
        <p:nvSpPr>
          <p:cNvPr id="43" name="Text 34"/>
          <p:cNvSpPr txBox="1"/>
          <p:nvPr/>
        </p:nvSpPr>
        <p:spPr>
          <a:xfrm>
            <a:off x="3383280" y="490118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44" name="Text 35"/>
          <p:cNvSpPr txBox="1"/>
          <p:nvPr/>
        </p:nvSpPr>
        <p:spPr>
          <a:xfrm>
            <a:off x="3904488" y="4846320"/>
            <a:ext cx="283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5" name="Shape 36"/>
          <p:cNvSpPr/>
          <p:nvPr/>
        </p:nvSpPr>
        <p:spPr>
          <a:xfrm>
            <a:off x="4206240" y="4846320"/>
            <a:ext cx="3246120" cy="960120"/>
          </a:xfrm>
          <a:prstGeom prst="roundRect">
            <a:avLst>
              <a:gd name="adj" fmla="val 857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6" name="Shape 37"/>
          <p:cNvSpPr/>
          <p:nvPr/>
        </p:nvSpPr>
        <p:spPr>
          <a:xfrm>
            <a:off x="4370832" y="5097780"/>
            <a:ext cx="457200" cy="457200"/>
          </a:xfrm>
          <a:prstGeom prst="ellipse">
            <a:avLst/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47" name="Image 7" descr="./icons/wifi_cya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80560" y="5207508"/>
            <a:ext cx="237744" cy="237744"/>
          </a:xfrm>
          <a:prstGeom prst="rect">
            <a:avLst/>
          </a:prstGeom>
        </p:spPr>
      </p:pic>
      <p:sp>
        <p:nvSpPr>
          <p:cNvPr id="48" name="Text 38"/>
          <p:cNvSpPr txBox="1"/>
          <p:nvPr/>
        </p:nvSpPr>
        <p:spPr>
          <a:xfrm>
            <a:off x="4983480" y="484632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WebSocket Update</a:t>
            </a:r>
            <a:endParaRPr lang="en-US" sz="1250" dirty="0"/>
          </a:p>
        </p:txBody>
      </p:sp>
      <p:sp>
        <p:nvSpPr>
          <p:cNvPr id="49" name="Text 39"/>
          <p:cNvSpPr txBox="1"/>
          <p:nvPr/>
        </p:nvSpPr>
        <p:spPr>
          <a:xfrm>
            <a:off x="6949440" y="490118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50" name="Text 40"/>
          <p:cNvSpPr txBox="1"/>
          <p:nvPr/>
        </p:nvSpPr>
        <p:spPr>
          <a:xfrm>
            <a:off x="7470648" y="4846320"/>
            <a:ext cx="283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51" name="Shape 41"/>
          <p:cNvSpPr/>
          <p:nvPr/>
        </p:nvSpPr>
        <p:spPr>
          <a:xfrm>
            <a:off x="7772400" y="4846320"/>
            <a:ext cx="3246120" cy="960120"/>
          </a:xfrm>
          <a:prstGeom prst="roundRect">
            <a:avLst>
              <a:gd name="adj" fmla="val 857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2" name="Shape 42"/>
          <p:cNvSpPr/>
          <p:nvPr/>
        </p:nvSpPr>
        <p:spPr>
          <a:xfrm>
            <a:off x="7936992" y="5097780"/>
            <a:ext cx="457200" cy="457200"/>
          </a:xfrm>
          <a:prstGeom prst="ellipse">
            <a:avLst/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53" name="Image 8" descr="./icons/chart_cya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46720" y="5207508"/>
            <a:ext cx="237744" cy="237744"/>
          </a:xfrm>
          <a:prstGeom prst="rect">
            <a:avLst/>
          </a:prstGeom>
        </p:spPr>
      </p:pic>
      <p:sp>
        <p:nvSpPr>
          <p:cNvPr id="54" name="Text 43"/>
          <p:cNvSpPr txBox="1"/>
          <p:nvPr/>
        </p:nvSpPr>
        <p:spPr>
          <a:xfrm>
            <a:off x="8549640" y="484632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+ Reports</a:t>
            </a:r>
            <a:endParaRPr lang="en-US" sz="1250" dirty="0"/>
          </a:p>
        </p:txBody>
      </p:sp>
      <p:sp>
        <p:nvSpPr>
          <p:cNvPr id="55" name="Text 44"/>
          <p:cNvSpPr txBox="1"/>
          <p:nvPr/>
        </p:nvSpPr>
        <p:spPr>
          <a:xfrm>
            <a:off x="10515600" y="490118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56" name="Shape 45"/>
          <p:cNvSpPr/>
          <p:nvPr/>
        </p:nvSpPr>
        <p:spPr>
          <a:xfrm>
            <a:off x="640080" y="5989320"/>
            <a:ext cx="905256" cy="365760"/>
          </a:xfrm>
          <a:prstGeom prst="roundRect">
            <a:avLst>
              <a:gd name="adj" fmla="val 20000"/>
            </a:avLst>
          </a:prstGeom>
          <a:ln w="12700">
            <a:solidFill>
              <a:srgbClr val="22D3EE"/>
            </a:solidFill>
            <a:prstDash val="solid"/>
          </a:ln>
        </p:spPr>
      </p:sp>
      <p:sp>
        <p:nvSpPr>
          <p:cNvPr id="57" name="Text 46"/>
          <p:cNvSpPr txBox="1"/>
          <p:nvPr/>
        </p:nvSpPr>
        <p:spPr>
          <a:xfrm>
            <a:off x="640080" y="5989320"/>
            <a:ext cx="905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050" dirty="0"/>
          </a:p>
        </p:txBody>
      </p:sp>
      <p:sp>
        <p:nvSpPr>
          <p:cNvPr id="58" name="Shape 47"/>
          <p:cNvSpPr/>
          <p:nvPr/>
        </p:nvSpPr>
        <p:spPr>
          <a:xfrm>
            <a:off x="1709928" y="5989320"/>
            <a:ext cx="1220724" cy="365760"/>
          </a:xfrm>
          <a:prstGeom prst="roundRect">
            <a:avLst>
              <a:gd name="adj" fmla="val 20000"/>
            </a:avLst>
          </a:prstGeom>
          <a:ln w="12700">
            <a:solidFill>
              <a:srgbClr val="22D3EE"/>
            </a:solidFill>
            <a:prstDash val="solid"/>
          </a:ln>
        </p:spPr>
      </p:sp>
      <p:sp>
        <p:nvSpPr>
          <p:cNvPr id="59" name="Text 48"/>
          <p:cNvSpPr txBox="1"/>
          <p:nvPr/>
        </p:nvSpPr>
        <p:spPr>
          <a:xfrm>
            <a:off x="1709928" y="5989320"/>
            <a:ext cx="122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1050" dirty="0"/>
          </a:p>
        </p:txBody>
      </p:sp>
      <p:sp>
        <p:nvSpPr>
          <p:cNvPr id="60" name="Shape 49"/>
          <p:cNvSpPr/>
          <p:nvPr/>
        </p:nvSpPr>
        <p:spPr>
          <a:xfrm>
            <a:off x="3095244" y="5989320"/>
            <a:ext cx="1220724" cy="365760"/>
          </a:xfrm>
          <a:prstGeom prst="roundRect">
            <a:avLst>
              <a:gd name="adj" fmla="val 20000"/>
            </a:avLst>
          </a:prstGeom>
          <a:ln w="12700">
            <a:solidFill>
              <a:srgbClr val="22D3EE"/>
            </a:solidFill>
            <a:prstDash val="solid"/>
          </a:ln>
        </p:spPr>
      </p:sp>
      <p:sp>
        <p:nvSpPr>
          <p:cNvPr id="61" name="Text 50"/>
          <p:cNvSpPr txBox="1"/>
          <p:nvPr/>
        </p:nvSpPr>
        <p:spPr>
          <a:xfrm>
            <a:off x="3095244" y="5989320"/>
            <a:ext cx="122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050" dirty="0"/>
          </a:p>
        </p:txBody>
      </p:sp>
      <p:sp>
        <p:nvSpPr>
          <p:cNvPr id="62" name="Shape 51"/>
          <p:cNvSpPr/>
          <p:nvPr/>
        </p:nvSpPr>
        <p:spPr>
          <a:xfrm>
            <a:off x="4480560" y="5989320"/>
            <a:ext cx="1220724" cy="365760"/>
          </a:xfrm>
          <a:prstGeom prst="roundRect">
            <a:avLst>
              <a:gd name="adj" fmla="val 20000"/>
            </a:avLst>
          </a:prstGeom>
          <a:ln w="12700">
            <a:solidFill>
              <a:srgbClr val="22D3EE"/>
            </a:solidFill>
            <a:prstDash val="solid"/>
          </a:ln>
        </p:spPr>
      </p:sp>
      <p:sp>
        <p:nvSpPr>
          <p:cNvPr id="63" name="Text 52"/>
          <p:cNvSpPr txBox="1"/>
          <p:nvPr/>
        </p:nvSpPr>
        <p:spPr>
          <a:xfrm>
            <a:off x="4480560" y="5989320"/>
            <a:ext cx="122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</a:t>
            </a:r>
            <a:endParaRPr lang="en-US" sz="1050" dirty="0"/>
          </a:p>
        </p:txBody>
      </p:sp>
      <p:sp>
        <p:nvSpPr>
          <p:cNvPr id="64" name="Text 53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SmartAttend</a:t>
            </a:r>
            <a:endParaRPr lang="en-US" sz="900" dirty="0"/>
          </a:p>
        </p:txBody>
      </p:sp>
      <p:sp>
        <p:nvSpPr>
          <p:cNvPr id="65" name="Text 54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66" name="Text 55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INNOVATIONS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SmartAttend Different?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0992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319272" y="1746504"/>
            <a:ext cx="457200" cy="457200"/>
          </a:xfrm>
          <a:prstGeom prst="ellipse">
            <a:avLst/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7" name="Image 0" descr="./icons/random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856232"/>
            <a:ext cx="237744" cy="2377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22219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Rotating QR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6060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 signed QR tokens rotating every 15 seconds.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06240" y="160020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389120" y="170992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6976872" y="1746504"/>
            <a:ext cx="457200" cy="457200"/>
          </a:xfrm>
          <a:prstGeom prst="ellipse">
            <a:avLst/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13" name="Image 1" descr="./icons/database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1856232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389120" y="22219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Database Lock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4389120" y="26060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constraints prevent duplicate student and device attendance.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7863840" y="160020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046720" y="170992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10634472" y="1746504"/>
            <a:ext cx="457200" cy="457200"/>
          </a:xfrm>
          <a:prstGeom prst="ellipse">
            <a:avLst/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19" name="Image 2" descr="./icons/wifi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4200" y="1856232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046720" y="22219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WebSockets</a:t>
            </a:r>
            <a:endParaRPr lang="en-US" sz="1350" dirty="0"/>
          </a:p>
        </p:txBody>
      </p:sp>
      <p:sp>
        <p:nvSpPr>
          <p:cNvPr id="21" name="Text 16"/>
          <p:cNvSpPr txBox="1"/>
          <p:nvPr/>
        </p:nvSpPr>
        <p:spPr>
          <a:xfrm>
            <a:off x="8046720" y="26060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attendance updates without polling overhead.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48640" y="352044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731520" y="363016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Shape 19"/>
          <p:cNvSpPr/>
          <p:nvPr/>
        </p:nvSpPr>
        <p:spPr>
          <a:xfrm>
            <a:off x="3319272" y="3666744"/>
            <a:ext cx="457200" cy="457200"/>
          </a:xfrm>
          <a:prstGeom prst="ellipse">
            <a:avLst/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25" name="Image 3" descr="./icons/sync_cy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3776472"/>
            <a:ext cx="237744" cy="23774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31520" y="41422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 Lifecycle Engine</a:t>
            </a:r>
            <a:endParaRPr lang="en-US" sz="1350" dirty="0"/>
          </a:p>
        </p:txBody>
      </p:sp>
      <p:sp>
        <p:nvSpPr>
          <p:cNvPr id="27" name="Text 21"/>
          <p:cNvSpPr txBox="1"/>
          <p:nvPr/>
        </p:nvSpPr>
        <p:spPr>
          <a:xfrm>
            <a:off x="731520" y="45262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Lectures can be Conducting, Cancelled or Rescheduled.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4206240" y="352044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4389120" y="363016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30" name="Shape 24"/>
          <p:cNvSpPr/>
          <p:nvPr/>
        </p:nvSpPr>
        <p:spPr>
          <a:xfrm>
            <a:off x="6976872" y="3666744"/>
            <a:ext cx="457200" cy="457200"/>
          </a:xfrm>
          <a:prstGeom prst="ellipse">
            <a:avLst/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31" name="Image 4" descr="./icons/excel_cy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6600" y="3776472"/>
            <a:ext cx="237744" cy="237744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4389120" y="41422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Lesson Sheets</a:t>
            </a:r>
            <a:endParaRPr lang="en-US" sz="1350" dirty="0"/>
          </a:p>
        </p:txBody>
      </p:sp>
      <p:sp>
        <p:nvSpPr>
          <p:cNvPr id="33" name="Text 26"/>
          <p:cNvSpPr txBox="1"/>
          <p:nvPr/>
        </p:nvSpPr>
        <p:spPr>
          <a:xfrm>
            <a:off x="4389120" y="45262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Excel and CSV attendance reports.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7863840" y="352044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8046720" y="363016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36" name="Shape 29"/>
          <p:cNvSpPr/>
          <p:nvPr/>
        </p:nvSpPr>
        <p:spPr>
          <a:xfrm>
            <a:off x="10634472" y="3666744"/>
            <a:ext cx="457200" cy="457200"/>
          </a:xfrm>
          <a:prstGeom prst="ellipse">
            <a:avLst/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37" name="Image 5" descr="./icons/bolt_cya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44200" y="3776472"/>
            <a:ext cx="237744" cy="237744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8046720" y="41422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Resilience</a:t>
            </a:r>
            <a:endParaRPr lang="en-US" sz="1350" dirty="0"/>
          </a:p>
        </p:txBody>
      </p:sp>
      <p:sp>
        <p:nvSpPr>
          <p:cNvPr id="39" name="Text 31"/>
          <p:cNvSpPr txBox="1"/>
          <p:nvPr/>
        </p:nvSpPr>
        <p:spPr>
          <a:xfrm>
            <a:off x="8046720" y="45262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with simultaneous classroom scan bursts.</a:t>
            </a:r>
            <a:endParaRPr lang="en-US" sz="1050" dirty="0"/>
          </a:p>
        </p:txBody>
      </p:sp>
      <p:sp>
        <p:nvSpPr>
          <p:cNvPr id="40" name="Shape 32"/>
          <p:cNvSpPr/>
          <p:nvPr/>
        </p:nvSpPr>
        <p:spPr>
          <a:xfrm>
            <a:off x="548640" y="5623560"/>
            <a:ext cx="1699260" cy="713232"/>
          </a:xfrm>
          <a:prstGeom prst="roundRect">
            <a:avLst>
              <a:gd name="adj" fmla="val 10256"/>
            </a:avLst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1" name="Text 33"/>
          <p:cNvSpPr txBox="1"/>
          <p:nvPr/>
        </p:nvSpPr>
        <p:spPr>
          <a:xfrm>
            <a:off x="548640" y="5660136"/>
            <a:ext cx="16992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sec</a:t>
            </a:r>
            <a:endParaRPr lang="en-US" sz="1500" dirty="0"/>
          </a:p>
        </p:txBody>
      </p:sp>
      <p:sp>
        <p:nvSpPr>
          <p:cNvPr id="42" name="Text 34"/>
          <p:cNvSpPr txBox="1"/>
          <p:nvPr/>
        </p:nvSpPr>
        <p:spPr>
          <a:xfrm>
            <a:off x="548640" y="6016752"/>
            <a:ext cx="1699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</a:t>
            </a:r>
            <a:endParaRPr lang="en-US" sz="900" dirty="0"/>
          </a:p>
        </p:txBody>
      </p:sp>
      <p:sp>
        <p:nvSpPr>
          <p:cNvPr id="43" name="Shape 35"/>
          <p:cNvSpPr/>
          <p:nvPr/>
        </p:nvSpPr>
        <p:spPr>
          <a:xfrm>
            <a:off x="2385060" y="5623560"/>
            <a:ext cx="1699260" cy="713232"/>
          </a:xfrm>
          <a:prstGeom prst="roundRect">
            <a:avLst>
              <a:gd name="adj" fmla="val 10256"/>
            </a:avLst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4" name="Text 36"/>
          <p:cNvSpPr txBox="1"/>
          <p:nvPr/>
        </p:nvSpPr>
        <p:spPr>
          <a:xfrm>
            <a:off x="2385060" y="5660136"/>
            <a:ext cx="16992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HMAC-SHA256</a:t>
            </a:r>
            <a:endParaRPr lang="en-US" sz="1500" dirty="0"/>
          </a:p>
        </p:txBody>
      </p:sp>
      <p:sp>
        <p:nvSpPr>
          <p:cNvPr id="45" name="Text 37"/>
          <p:cNvSpPr txBox="1"/>
          <p:nvPr/>
        </p:nvSpPr>
        <p:spPr>
          <a:xfrm>
            <a:off x="2385060" y="6016752"/>
            <a:ext cx="1699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</a:t>
            </a:r>
            <a:endParaRPr lang="en-US" sz="900" dirty="0"/>
          </a:p>
        </p:txBody>
      </p:sp>
      <p:sp>
        <p:nvSpPr>
          <p:cNvPr id="46" name="Shape 38"/>
          <p:cNvSpPr/>
          <p:nvPr/>
        </p:nvSpPr>
        <p:spPr>
          <a:xfrm>
            <a:off x="4221480" y="5623560"/>
            <a:ext cx="1699260" cy="713232"/>
          </a:xfrm>
          <a:prstGeom prst="roundRect">
            <a:avLst>
              <a:gd name="adj" fmla="val 10256"/>
            </a:avLst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7" name="Text 39"/>
          <p:cNvSpPr txBox="1"/>
          <p:nvPr/>
        </p:nvSpPr>
        <p:spPr>
          <a:xfrm>
            <a:off x="4221480" y="5660136"/>
            <a:ext cx="16992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1500" dirty="0"/>
          </a:p>
        </p:txBody>
      </p:sp>
      <p:sp>
        <p:nvSpPr>
          <p:cNvPr id="48" name="Text 40"/>
          <p:cNvSpPr txBox="1"/>
          <p:nvPr/>
        </p:nvSpPr>
        <p:spPr>
          <a:xfrm>
            <a:off x="4221480" y="6016752"/>
            <a:ext cx="1699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900" dirty="0"/>
          </a:p>
        </p:txBody>
      </p:sp>
      <p:sp>
        <p:nvSpPr>
          <p:cNvPr id="49" name="Shape 41"/>
          <p:cNvSpPr/>
          <p:nvPr/>
        </p:nvSpPr>
        <p:spPr>
          <a:xfrm>
            <a:off x="6057900" y="5623560"/>
            <a:ext cx="1699260" cy="713232"/>
          </a:xfrm>
          <a:prstGeom prst="roundRect">
            <a:avLst>
              <a:gd name="adj" fmla="val 10256"/>
            </a:avLst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0" name="Text 42"/>
          <p:cNvSpPr txBox="1"/>
          <p:nvPr/>
        </p:nvSpPr>
        <p:spPr>
          <a:xfrm>
            <a:off x="6057900" y="5660136"/>
            <a:ext cx="16992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18.4 ms</a:t>
            </a:r>
            <a:endParaRPr lang="en-US" sz="1500" dirty="0"/>
          </a:p>
        </p:txBody>
      </p:sp>
      <p:sp>
        <p:nvSpPr>
          <p:cNvPr id="51" name="Text 43"/>
          <p:cNvSpPr txBox="1"/>
          <p:nvPr/>
        </p:nvSpPr>
        <p:spPr>
          <a:xfrm>
            <a:off x="6057900" y="6016752"/>
            <a:ext cx="1699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Latency</a:t>
            </a:r>
            <a:endParaRPr lang="en-US" sz="900" dirty="0"/>
          </a:p>
        </p:txBody>
      </p:sp>
      <p:sp>
        <p:nvSpPr>
          <p:cNvPr id="52" name="Shape 44"/>
          <p:cNvSpPr/>
          <p:nvPr/>
        </p:nvSpPr>
        <p:spPr>
          <a:xfrm>
            <a:off x="7894320" y="5623560"/>
            <a:ext cx="1699260" cy="713232"/>
          </a:xfrm>
          <a:prstGeom prst="roundRect">
            <a:avLst>
              <a:gd name="adj" fmla="val 10256"/>
            </a:avLst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3" name="Text 45"/>
          <p:cNvSpPr txBox="1"/>
          <p:nvPr/>
        </p:nvSpPr>
        <p:spPr>
          <a:xfrm>
            <a:off x="7894320" y="5660136"/>
            <a:ext cx="16992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 Tests</a:t>
            </a:r>
            <a:endParaRPr lang="en-US" sz="1500" dirty="0"/>
          </a:p>
        </p:txBody>
      </p:sp>
      <p:sp>
        <p:nvSpPr>
          <p:cNvPr id="54" name="Text 46"/>
          <p:cNvSpPr txBox="1"/>
          <p:nvPr/>
        </p:nvSpPr>
        <p:spPr>
          <a:xfrm>
            <a:off x="7894320" y="6016752"/>
            <a:ext cx="1699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900" dirty="0"/>
          </a:p>
        </p:txBody>
      </p:sp>
      <p:sp>
        <p:nvSpPr>
          <p:cNvPr id="55" name="Shape 47"/>
          <p:cNvSpPr/>
          <p:nvPr/>
        </p:nvSpPr>
        <p:spPr>
          <a:xfrm>
            <a:off x="9730740" y="5623560"/>
            <a:ext cx="1699260" cy="713232"/>
          </a:xfrm>
          <a:prstGeom prst="roundRect">
            <a:avLst>
              <a:gd name="adj" fmla="val 10256"/>
            </a:avLst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6" name="Text 48"/>
          <p:cNvSpPr txBox="1"/>
          <p:nvPr/>
        </p:nvSpPr>
        <p:spPr>
          <a:xfrm>
            <a:off x="9730740" y="5660136"/>
            <a:ext cx="16992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500" dirty="0"/>
          </a:p>
        </p:txBody>
      </p:sp>
      <p:sp>
        <p:nvSpPr>
          <p:cNvPr id="57" name="Text 49"/>
          <p:cNvSpPr txBox="1"/>
          <p:nvPr/>
        </p:nvSpPr>
        <p:spPr>
          <a:xfrm>
            <a:off x="9730740" y="6016752"/>
            <a:ext cx="1699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900" dirty="0"/>
          </a:p>
        </p:txBody>
      </p:sp>
      <p:sp>
        <p:nvSpPr>
          <p:cNvPr id="58" name="Text 50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SmartAttend</a:t>
            </a:r>
            <a:endParaRPr lang="en-US" sz="900" dirty="0"/>
          </a:p>
        </p:txBody>
      </p:sp>
      <p:sp>
        <p:nvSpPr>
          <p:cNvPr id="59" name="Text 51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Innovations</a:t>
            </a:r>
            <a:endParaRPr lang="en-US" sz="900" dirty="0"/>
          </a:p>
        </p:txBody>
      </p:sp>
      <p:sp>
        <p:nvSpPr>
          <p:cNvPr id="60" name="Text 52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SmartAttend System Architecture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7406640" cy="658368"/>
          </a:xfrm>
          <a:prstGeom prst="roundRect">
            <a:avLst>
              <a:gd name="adj" fmla="val 9722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627632"/>
            <a:ext cx="420624" cy="420624"/>
          </a:xfrm>
          <a:prstGeom prst="ellipse">
            <a:avLst/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6" name="Image 0" descr="./icons/desktop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606" y="1728582"/>
            <a:ext cx="218724" cy="2187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15819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1837944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· React 18 · TypeScript · Tailwind CSS · html5-qrcode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4114800" y="214884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258568"/>
            <a:ext cx="7406640" cy="658368"/>
          </a:xfrm>
          <a:prstGeom prst="roundRect">
            <a:avLst>
              <a:gd name="adj" fmla="val 9722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76656" y="2377440"/>
            <a:ext cx="420624" cy="420624"/>
          </a:xfrm>
          <a:prstGeom prst="ellipse">
            <a:avLst/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12" name="Image 1" descr="./icons/server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606" y="2478390"/>
            <a:ext cx="218724" cy="21872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23444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/ API LAYER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1234440" y="258775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Python 3.11+ · Pydantic v2 · SQLAlchemy · Uvicorn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4114800" y="289864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3008376"/>
            <a:ext cx="7406640" cy="658368"/>
          </a:xfrm>
          <a:prstGeom prst="roundRect">
            <a:avLst>
              <a:gd name="adj" fmla="val 9722"/>
            </a:avLst>
          </a:prstGeom>
          <a:solidFill>
            <a:srgbClr val="0F172A"/>
          </a:solidFill>
          <a:ln w="16510">
            <a:solidFill>
              <a:srgbClr val="22D3E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76656" y="3127248"/>
            <a:ext cx="420624" cy="420624"/>
          </a:xfrm>
          <a:prstGeom prst="ellipse">
            <a:avLst/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18" name="Image 2" descr="./icons/shield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606" y="3228198"/>
            <a:ext cx="218724" cy="21872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234440" y="3081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LAYER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1234440" y="333756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· Bcrypt · HMAC-SHA256 · HTTP-only Cookies · Rate Limiting · Security Headers · RBAC</a:t>
            </a:r>
            <a:endParaRPr lang="en-US" sz="950" dirty="0"/>
          </a:p>
        </p:txBody>
      </p:sp>
      <p:sp>
        <p:nvSpPr>
          <p:cNvPr id="21" name="Text 16"/>
          <p:cNvSpPr txBox="1"/>
          <p:nvPr/>
        </p:nvSpPr>
        <p:spPr>
          <a:xfrm>
            <a:off x="4114800" y="364845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48640" y="3758184"/>
            <a:ext cx="7406640" cy="658368"/>
          </a:xfrm>
          <a:prstGeom prst="roundRect">
            <a:avLst>
              <a:gd name="adj" fmla="val 9722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76656" y="3877056"/>
            <a:ext cx="420624" cy="420624"/>
          </a:xfrm>
          <a:prstGeom prst="ellipse">
            <a:avLst/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24" name="Image 3" descr="./icons/database_cy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606" y="3978006"/>
            <a:ext cx="218724" cy="21872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34440" y="38313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1234440" y="408736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WAL / PostgreSQL · Composite Unique Constraints</a:t>
            </a:r>
            <a:endParaRPr lang="en-US" sz="950" dirty="0"/>
          </a:p>
        </p:txBody>
      </p:sp>
      <p:sp>
        <p:nvSpPr>
          <p:cNvPr id="27" name="Text 21"/>
          <p:cNvSpPr txBox="1"/>
          <p:nvPr/>
        </p:nvSpPr>
        <p:spPr>
          <a:xfrm>
            <a:off x="4114800" y="439826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548640" y="4507992"/>
            <a:ext cx="7406640" cy="658368"/>
          </a:xfrm>
          <a:prstGeom prst="roundRect">
            <a:avLst>
              <a:gd name="adj" fmla="val 9722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76656" y="4626864"/>
            <a:ext cx="420624" cy="420624"/>
          </a:xfrm>
          <a:prstGeom prst="ellipse">
            <a:avLst/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30" name="Image 4" descr="./icons/wifi_cy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606" y="4727814"/>
            <a:ext cx="218724" cy="21872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234440" y="45811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LAYER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34440" y="4837176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FastAPI WebSockets</a:t>
            </a:r>
            <a:endParaRPr lang="en-US" sz="950" dirty="0"/>
          </a:p>
        </p:txBody>
      </p:sp>
      <p:sp>
        <p:nvSpPr>
          <p:cNvPr id="33" name="Text 26"/>
          <p:cNvSpPr txBox="1"/>
          <p:nvPr/>
        </p:nvSpPr>
        <p:spPr>
          <a:xfrm>
            <a:off x="4114800" y="514807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548640" y="5257800"/>
            <a:ext cx="7406640" cy="658368"/>
          </a:xfrm>
          <a:prstGeom prst="roundRect">
            <a:avLst>
              <a:gd name="adj" fmla="val 9722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676656" y="5376672"/>
            <a:ext cx="420624" cy="420624"/>
          </a:xfrm>
          <a:prstGeom prst="ellipse">
            <a:avLst/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36" name="Image 5" descr="./icons/excel_cya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606" y="5477622"/>
            <a:ext cx="218724" cy="218724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234440" y="5330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200" dirty="0"/>
          </a:p>
        </p:txBody>
      </p:sp>
      <p:sp>
        <p:nvSpPr>
          <p:cNvPr id="38" name="Text 30"/>
          <p:cNvSpPr txBox="1"/>
          <p:nvPr/>
        </p:nvSpPr>
        <p:spPr>
          <a:xfrm>
            <a:off x="1234440" y="5586984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OpenPyXL · Pandas · Excel / CSV</a:t>
            </a:r>
            <a:endParaRPr lang="en-US" sz="950" dirty="0"/>
          </a:p>
        </p:txBody>
      </p:sp>
      <p:sp>
        <p:nvSpPr>
          <p:cNvPr id="39" name="Shape 31"/>
          <p:cNvSpPr/>
          <p:nvPr/>
        </p:nvSpPr>
        <p:spPr>
          <a:xfrm>
            <a:off x="8275320" y="1508760"/>
            <a:ext cx="3383280" cy="1417320"/>
          </a:xfrm>
          <a:prstGeom prst="roundRect">
            <a:avLst>
              <a:gd name="adj" fmla="val 5806"/>
            </a:avLst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0" name="Text 32"/>
          <p:cNvSpPr txBox="1"/>
          <p:nvPr/>
        </p:nvSpPr>
        <p:spPr>
          <a:xfrm>
            <a:off x="8458200" y="16276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050" dirty="0"/>
          </a:p>
        </p:txBody>
      </p:sp>
      <p:sp>
        <p:nvSpPr>
          <p:cNvPr id="41" name="Text 33"/>
          <p:cNvSpPr txBox="1"/>
          <p:nvPr/>
        </p:nvSpPr>
        <p:spPr>
          <a:xfrm>
            <a:off x="8458200" y="18745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Mobile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HTTPS →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Database</a:t>
            </a:r>
            <a:endParaRPr lang="en-US" sz="1250" dirty="0"/>
          </a:p>
        </p:txBody>
      </p:sp>
      <p:sp>
        <p:nvSpPr>
          <p:cNvPr id="42" name="Shape 34"/>
          <p:cNvSpPr/>
          <p:nvPr/>
        </p:nvSpPr>
        <p:spPr>
          <a:xfrm>
            <a:off x="8275320" y="3108960"/>
            <a:ext cx="3383280" cy="1417320"/>
          </a:xfrm>
          <a:prstGeom prst="roundRect">
            <a:avLst>
              <a:gd name="adj" fmla="val 5806"/>
            </a:avLst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3" name="Text 35"/>
          <p:cNvSpPr txBox="1"/>
          <p:nvPr/>
        </p:nvSpPr>
        <p:spPr>
          <a:xfrm>
            <a:off x="8458200" y="32278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FLOW</a:t>
            </a:r>
            <a:endParaRPr lang="en-US" sz="1050" dirty="0"/>
          </a:p>
        </p:txBody>
      </p:sp>
      <p:sp>
        <p:nvSpPr>
          <p:cNvPr id="44" name="Text 36"/>
          <p:cNvSpPr txBox="1"/>
          <p:nvPr/>
        </p:nvSpPr>
        <p:spPr>
          <a:xfrm>
            <a:off x="8458200" y="34747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WebSocket →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Dashboard /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Projector</a:t>
            </a:r>
            <a:endParaRPr lang="en-US" sz="1250" dirty="0"/>
          </a:p>
        </p:txBody>
      </p:sp>
      <p:sp>
        <p:nvSpPr>
          <p:cNvPr id="45" name="Shape 37"/>
          <p:cNvSpPr/>
          <p:nvPr/>
        </p:nvSpPr>
        <p:spPr>
          <a:xfrm>
            <a:off x="8275320" y="4709160"/>
            <a:ext cx="3383280" cy="1280160"/>
          </a:xfrm>
          <a:prstGeom prst="roundRect">
            <a:avLst>
              <a:gd name="adj" fmla="val 6429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6" name="Text 38"/>
          <p:cNvSpPr txBox="1"/>
          <p:nvPr/>
        </p:nvSpPr>
        <p:spPr>
          <a:xfrm>
            <a:off x="8458200" y="4846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LOGICAL LAYERS, ONE PIPELINE</a:t>
            </a:r>
            <a:endParaRPr lang="en-US" sz="1000" dirty="0"/>
          </a:p>
        </p:txBody>
      </p:sp>
      <p:sp>
        <p:nvSpPr>
          <p:cNvPr id="47" name="Text 39"/>
          <p:cNvSpPr txBox="1"/>
          <p:nvPr/>
        </p:nvSpPr>
        <p:spPr>
          <a:xfrm>
            <a:off x="8458200" y="513892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passes through security before it reaches data — no layer is optional.</a:t>
            </a:r>
            <a:endParaRPr lang="en-US" sz="1050" dirty="0"/>
          </a:p>
        </p:txBody>
      </p:sp>
      <p:sp>
        <p:nvSpPr>
          <p:cNvPr id="48" name="Text 40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SmartAttend</a:t>
            </a:r>
            <a:endParaRPr lang="en-US" sz="900" dirty="0"/>
          </a:p>
        </p:txBody>
      </p:sp>
      <p:sp>
        <p:nvSpPr>
          <p:cNvPr id="49" name="Text 41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50" name="Text 42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SECURITY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Anti-Proxy Security Architecture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429000" cy="3246120"/>
          </a:xfrm>
          <a:prstGeom prst="roundRect">
            <a:avLst>
              <a:gd name="adj" fmla="val 281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755648"/>
            <a:ext cx="502920" cy="502920"/>
          </a:xfrm>
          <a:prstGeom prst="ellipse">
            <a:avLst/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6" name="Image 0" descr="./icons/random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09" y="1876349"/>
            <a:ext cx="261518" cy="26151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38328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423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Rotating QR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31520" y="2926080"/>
            <a:ext cx="3063240" cy="548640"/>
          </a:xfrm>
          <a:prstGeom prst="roundRect">
            <a:avLst>
              <a:gd name="adj" fmla="val 1000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29260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rot_{session_id}_{window_idx}_{signature}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61188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 signed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Time-sliced token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Rotates every 15 seconds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skew window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stale screenshot forwarding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206240" y="1554480"/>
            <a:ext cx="3429000" cy="3246120"/>
          </a:xfrm>
          <a:prstGeom prst="roundRect">
            <a:avLst>
              <a:gd name="adj" fmla="val 281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07408" y="1755648"/>
            <a:ext cx="502920" cy="502920"/>
          </a:xfrm>
          <a:prstGeom prst="ellipse">
            <a:avLst/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14" name="Image 1" descr="./icons/graduate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8109" y="1876349"/>
            <a:ext cx="261518" cy="26151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04088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4389120" y="2423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Uniqueness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4389120" y="2926080"/>
            <a:ext cx="3063240" cy="548640"/>
          </a:xfrm>
          <a:prstGeom prst="roundRect">
            <a:avLst>
              <a:gd name="adj" fmla="val 1000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480560" y="29260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UNIQUE(session_id, student_id)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4389120" y="361188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student can only be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once per session.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7863840" y="1554480"/>
            <a:ext cx="3429000" cy="3246120"/>
          </a:xfrm>
          <a:prstGeom prst="roundRect">
            <a:avLst>
              <a:gd name="adj" fmla="val 281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065008" y="1755648"/>
            <a:ext cx="502920" cy="502920"/>
          </a:xfrm>
          <a:prstGeom prst="ellipse">
            <a:avLst/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22" name="Image 2" descr="./icons/mobile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5709" y="1876349"/>
            <a:ext cx="261518" cy="26151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069848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24" name="Text 19"/>
          <p:cNvSpPr txBox="1"/>
          <p:nvPr/>
        </p:nvSpPr>
        <p:spPr>
          <a:xfrm>
            <a:off x="8046720" y="2423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Uniqueness</a:t>
            </a:r>
            <a:endParaRPr lang="en-US" sz="1500" dirty="0"/>
          </a:p>
        </p:txBody>
      </p:sp>
      <p:sp>
        <p:nvSpPr>
          <p:cNvPr id="25" name="Shape 20"/>
          <p:cNvSpPr/>
          <p:nvPr/>
        </p:nvSpPr>
        <p:spPr>
          <a:xfrm>
            <a:off x="8046720" y="2926080"/>
            <a:ext cx="3063240" cy="548640"/>
          </a:xfrm>
          <a:prstGeom prst="roundRect">
            <a:avLst>
              <a:gd name="adj" fmla="val 1000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8138160" y="29260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UNIQUE(session_id, device_id)</a:t>
            </a:r>
            <a:endParaRPr lang="en-US" sz="950" dirty="0"/>
          </a:p>
        </p:txBody>
      </p:sp>
      <p:sp>
        <p:nvSpPr>
          <p:cNvPr id="27" name="Text 22"/>
          <p:cNvSpPr txBox="1"/>
          <p:nvPr/>
        </p:nvSpPr>
        <p:spPr>
          <a:xfrm>
            <a:off x="8046720" y="361188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physical device cannot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attendance for multiple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accounts in one session.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548640" y="5074920"/>
            <a:ext cx="1767840" cy="502920"/>
          </a:xfrm>
          <a:prstGeom prst="roundRect">
            <a:avLst>
              <a:gd name="adj" fmla="val 1272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548640" y="5074920"/>
            <a:ext cx="176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950" dirty="0"/>
          </a:p>
        </p:txBody>
      </p:sp>
      <p:sp>
        <p:nvSpPr>
          <p:cNvPr id="30" name="Text 25"/>
          <p:cNvSpPr txBox="1"/>
          <p:nvPr/>
        </p:nvSpPr>
        <p:spPr>
          <a:xfrm>
            <a:off x="2307336" y="5074920"/>
            <a:ext cx="73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2371344" y="5074920"/>
            <a:ext cx="1767840" cy="502920"/>
          </a:xfrm>
          <a:prstGeom prst="roundRect">
            <a:avLst>
              <a:gd name="adj" fmla="val 1272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2371344" y="5074920"/>
            <a:ext cx="176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Validation</a:t>
            </a:r>
            <a:endParaRPr lang="en-US" sz="950" dirty="0"/>
          </a:p>
        </p:txBody>
      </p:sp>
      <p:sp>
        <p:nvSpPr>
          <p:cNvPr id="33" name="Text 28"/>
          <p:cNvSpPr txBox="1"/>
          <p:nvPr/>
        </p:nvSpPr>
        <p:spPr>
          <a:xfrm>
            <a:off x="4130040" y="5074920"/>
            <a:ext cx="73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4194048" y="5074920"/>
            <a:ext cx="1767840" cy="502920"/>
          </a:xfrm>
          <a:prstGeom prst="roundRect">
            <a:avLst>
              <a:gd name="adj" fmla="val 1272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4194048" y="5074920"/>
            <a:ext cx="176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Identity</a:t>
            </a:r>
            <a:endParaRPr lang="en-US" sz="950" dirty="0"/>
          </a:p>
        </p:txBody>
      </p:sp>
      <p:sp>
        <p:nvSpPr>
          <p:cNvPr id="36" name="Text 31"/>
          <p:cNvSpPr txBox="1"/>
          <p:nvPr/>
        </p:nvSpPr>
        <p:spPr>
          <a:xfrm>
            <a:off x="5952744" y="5074920"/>
            <a:ext cx="73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6016752" y="5074920"/>
            <a:ext cx="1767840" cy="502920"/>
          </a:xfrm>
          <a:prstGeom prst="roundRect">
            <a:avLst>
              <a:gd name="adj" fmla="val 1272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6016752" y="5074920"/>
            <a:ext cx="176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Validation</a:t>
            </a:r>
            <a:endParaRPr lang="en-US" sz="950" dirty="0"/>
          </a:p>
        </p:txBody>
      </p:sp>
      <p:sp>
        <p:nvSpPr>
          <p:cNvPr id="39" name="Text 34"/>
          <p:cNvSpPr txBox="1"/>
          <p:nvPr/>
        </p:nvSpPr>
        <p:spPr>
          <a:xfrm>
            <a:off x="7775448" y="5074920"/>
            <a:ext cx="73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40" name="Shape 35"/>
          <p:cNvSpPr/>
          <p:nvPr/>
        </p:nvSpPr>
        <p:spPr>
          <a:xfrm>
            <a:off x="7839456" y="5074920"/>
            <a:ext cx="1767840" cy="502920"/>
          </a:xfrm>
          <a:prstGeom prst="roundRect">
            <a:avLst>
              <a:gd name="adj" fmla="val 1272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7839456" y="5074920"/>
            <a:ext cx="176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Constraints</a:t>
            </a:r>
            <a:endParaRPr lang="en-US" sz="950" dirty="0"/>
          </a:p>
        </p:txBody>
      </p:sp>
      <p:sp>
        <p:nvSpPr>
          <p:cNvPr id="42" name="Text 37"/>
          <p:cNvSpPr txBox="1"/>
          <p:nvPr/>
        </p:nvSpPr>
        <p:spPr>
          <a:xfrm>
            <a:off x="9598152" y="5074920"/>
            <a:ext cx="73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43" name="Shape 38"/>
          <p:cNvSpPr/>
          <p:nvPr/>
        </p:nvSpPr>
        <p:spPr>
          <a:xfrm>
            <a:off x="9662160" y="5074920"/>
            <a:ext cx="1767840" cy="502920"/>
          </a:xfrm>
          <a:prstGeom prst="roundRect">
            <a:avLst>
              <a:gd name="adj" fmla="val 12727"/>
            </a:avLst>
          </a:prstGeom>
          <a:solidFill>
            <a:srgbClr val="16213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9662160" y="5074920"/>
            <a:ext cx="176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950" dirty="0"/>
          </a:p>
        </p:txBody>
      </p:sp>
      <p:sp>
        <p:nvSpPr>
          <p:cNvPr id="45" name="Text 40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SmartAttend</a:t>
            </a:r>
            <a:endParaRPr lang="en-US" sz="900" dirty="0"/>
          </a:p>
        </p:txBody>
      </p:sp>
      <p:sp>
        <p:nvSpPr>
          <p:cNvPr id="46" name="Text 41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Anti-Proxy Security</a:t>
            </a:r>
            <a:endParaRPr lang="en-US" sz="900" dirty="0"/>
          </a:p>
        </p:txBody>
      </p:sp>
      <p:sp>
        <p:nvSpPr>
          <p:cNvPr id="47" name="Text 42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WORKFLOW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SmartAttend Works in a Real Lecture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084832" cy="1481328"/>
          </a:xfrm>
          <a:prstGeom prst="roundRect">
            <a:avLst>
              <a:gd name="adj" fmla="val 555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37360"/>
            <a:ext cx="402336" cy="402336"/>
          </a:xfrm>
          <a:prstGeom prst="ellipse">
            <a:avLst/>
          </a:prstGeom>
          <a:solidFill>
            <a:srgbClr val="16213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221992"/>
            <a:ext cx="1810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logs in.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56916" y="1600200"/>
            <a:ext cx="2084832" cy="1481328"/>
          </a:xfrm>
          <a:prstGeom prst="roundRect">
            <a:avLst>
              <a:gd name="adj" fmla="val 555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94076" y="1737360"/>
            <a:ext cx="402336" cy="402336"/>
          </a:xfrm>
          <a:prstGeom prst="ellipse">
            <a:avLst/>
          </a:prstGeom>
          <a:solidFill>
            <a:srgbClr val="16213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94076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894076" y="2221992"/>
            <a:ext cx="1810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opens the timetable.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65192" y="1600200"/>
            <a:ext cx="2084832" cy="1481328"/>
          </a:xfrm>
          <a:prstGeom prst="roundRect">
            <a:avLst>
              <a:gd name="adj" fmla="val 555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02352" y="1737360"/>
            <a:ext cx="402336" cy="402336"/>
          </a:xfrm>
          <a:prstGeom prst="ellipse">
            <a:avLst/>
          </a:prstGeom>
          <a:solidFill>
            <a:srgbClr val="16213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02352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102352" y="2221992"/>
            <a:ext cx="1810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confirms the lecture as CONDUCTING.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173468" y="1600200"/>
            <a:ext cx="2084832" cy="1481328"/>
          </a:xfrm>
          <a:prstGeom prst="roundRect">
            <a:avLst>
              <a:gd name="adj" fmla="val 555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0628" y="1737360"/>
            <a:ext cx="402336" cy="402336"/>
          </a:xfrm>
          <a:prstGeom prst="ellipse">
            <a:avLst/>
          </a:prstGeom>
          <a:solidFill>
            <a:srgbClr val="16213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0628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310628" y="2221992"/>
            <a:ext cx="1810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SmartAttend creates an active attendance session.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381744" y="1600200"/>
            <a:ext cx="2084832" cy="1481328"/>
          </a:xfrm>
          <a:prstGeom prst="roundRect">
            <a:avLst>
              <a:gd name="adj" fmla="val 555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18904" y="1737360"/>
            <a:ext cx="402336" cy="402336"/>
          </a:xfrm>
          <a:prstGeom prst="ellipse">
            <a:avLst/>
          </a:prstGeom>
          <a:solidFill>
            <a:srgbClr val="16213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518904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518904" y="2221992"/>
            <a:ext cx="1810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rotating QR code appears on the classroom projector.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310128"/>
            <a:ext cx="2084832" cy="1481328"/>
          </a:xfrm>
          <a:prstGeom prst="roundRect">
            <a:avLst>
              <a:gd name="adj" fmla="val 555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3447288"/>
            <a:ext cx="402336" cy="402336"/>
          </a:xfrm>
          <a:prstGeom prst="ellipse">
            <a:avLst/>
          </a:prstGeom>
          <a:solidFill>
            <a:srgbClr val="16213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3447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3931920"/>
            <a:ext cx="1810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scan the QR using their smartphones.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56916" y="3310128"/>
            <a:ext cx="2084832" cy="1481328"/>
          </a:xfrm>
          <a:prstGeom prst="roundRect">
            <a:avLst>
              <a:gd name="adj" fmla="val 555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94076" y="3447288"/>
            <a:ext cx="402336" cy="402336"/>
          </a:xfrm>
          <a:prstGeom prst="ellipse">
            <a:avLst/>
          </a:prstGeom>
          <a:solidFill>
            <a:srgbClr val="16213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894076" y="3447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2894076" y="3931920"/>
            <a:ext cx="1810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validates authentication, QR token and device constraints.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65192" y="3310128"/>
            <a:ext cx="2084832" cy="1481328"/>
          </a:xfrm>
          <a:prstGeom prst="roundRect">
            <a:avLst>
              <a:gd name="adj" fmla="val 555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02352" y="3447288"/>
            <a:ext cx="402336" cy="402336"/>
          </a:xfrm>
          <a:prstGeom prst="ellipse">
            <a:avLst/>
          </a:prstGeom>
          <a:solidFill>
            <a:srgbClr val="16213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102352" y="3447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5102352" y="3931920"/>
            <a:ext cx="1810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is recorded.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173468" y="3310128"/>
            <a:ext cx="2084832" cy="1481328"/>
          </a:xfrm>
          <a:prstGeom prst="roundRect">
            <a:avLst>
              <a:gd name="adj" fmla="val 555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10628" y="3447288"/>
            <a:ext cx="402336" cy="402336"/>
          </a:xfrm>
          <a:prstGeom prst="ellipse">
            <a:avLst/>
          </a:prstGeom>
          <a:solidFill>
            <a:srgbClr val="16213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310628" y="3447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7310628" y="3931920"/>
            <a:ext cx="1810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broadcasts the event to the faculty/projector dashboard.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381744" y="3310128"/>
            <a:ext cx="2084832" cy="1481328"/>
          </a:xfrm>
          <a:prstGeom prst="roundRect">
            <a:avLst>
              <a:gd name="adj" fmla="val 555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518904" y="3447288"/>
            <a:ext cx="402336" cy="402336"/>
          </a:xfrm>
          <a:prstGeom prst="ellipse">
            <a:avLst/>
          </a:prstGeom>
          <a:solidFill>
            <a:srgbClr val="16213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518904" y="3447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9518904" y="3931920"/>
            <a:ext cx="1810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closes the session; remaining students are auto-marked absent.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54864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Laptop  →  Projector  →  Student Phones  →  Backend  →  Dashboard</a:t>
            </a:r>
            <a:endParaRPr lang="en-US" sz="1250" dirty="0"/>
          </a:p>
        </p:txBody>
      </p:sp>
      <p:sp>
        <p:nvSpPr>
          <p:cNvPr id="45" name="Text 43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SmartAttend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Workflow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SYSTEMS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Control &amp; Live Attendance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LIFECYCLE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120640" cy="1051560"/>
          </a:xfrm>
          <a:prstGeom prst="roundRect">
            <a:avLst>
              <a:gd name="adj" fmla="val 782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212848"/>
            <a:ext cx="548640" cy="548640"/>
          </a:xfrm>
          <a:prstGeom prst="ellipse">
            <a:avLst/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7" name="Image 0" descr="./icons/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6" y="2344522"/>
            <a:ext cx="285293" cy="28529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211226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CONDUCTING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245059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the attendance session and generates the dynamic QR.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3200400"/>
            <a:ext cx="5120640" cy="1051560"/>
          </a:xfrm>
          <a:prstGeom prst="roundRect">
            <a:avLst>
              <a:gd name="adj" fmla="val 782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3232" y="3447288"/>
            <a:ext cx="548640" cy="548640"/>
          </a:xfrm>
          <a:prstGeom prst="ellipse">
            <a:avLst/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12" name="Image 1" descr="./icons/ban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906" y="3578962"/>
            <a:ext cx="285293" cy="28529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17320" y="334670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1417320" y="368503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 recorded reason; excluded from the conducted-lecture denominator.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4434840"/>
            <a:ext cx="5120640" cy="1051560"/>
          </a:xfrm>
          <a:prstGeom prst="roundRect">
            <a:avLst>
              <a:gd name="adj" fmla="val 782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13232" y="4681728"/>
            <a:ext cx="548640" cy="548640"/>
          </a:xfrm>
          <a:prstGeom prst="ellipse">
            <a:avLst/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17" name="Image 2" descr="./icons/sync_amb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906" y="4813402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17320" y="458114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RESCHEDULED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1417320" y="491947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timetable adjustments without distorting analytics.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608076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FLOW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080760" y="1965960"/>
            <a:ext cx="5120640" cy="621792"/>
          </a:xfrm>
          <a:prstGeom prst="roundRect">
            <a:avLst>
              <a:gd name="adj" fmla="val 1176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217920" y="2048256"/>
            <a:ext cx="457200" cy="457200"/>
          </a:xfrm>
          <a:prstGeom prst="ellipse">
            <a:avLst/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23" name="Image 3" descr="./icons/mobile_cy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7648" y="2157984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812280" y="1965960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Scan</a:t>
            </a:r>
            <a:endParaRPr 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6309360" y="256946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6080760" y="2724912"/>
            <a:ext cx="5120640" cy="621792"/>
          </a:xfrm>
          <a:prstGeom prst="roundRect">
            <a:avLst>
              <a:gd name="adj" fmla="val 1176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217920" y="2807208"/>
            <a:ext cx="457200" cy="457200"/>
          </a:xfrm>
          <a:prstGeom prst="ellipse">
            <a:avLst/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28" name="Image 4" descr="./icons/server_cy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7648" y="2916936"/>
            <a:ext cx="237744" cy="23774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6812280" y="2724912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API</a:t>
            </a:r>
            <a:endParaRPr lang="en-US" sz="1250" dirty="0"/>
          </a:p>
        </p:txBody>
      </p:sp>
      <p:sp>
        <p:nvSpPr>
          <p:cNvPr id="30" name="Text 23"/>
          <p:cNvSpPr txBox="1"/>
          <p:nvPr/>
        </p:nvSpPr>
        <p:spPr>
          <a:xfrm>
            <a:off x="6309360" y="33284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6080760" y="3483864"/>
            <a:ext cx="5120640" cy="621792"/>
          </a:xfrm>
          <a:prstGeom prst="roundRect">
            <a:avLst>
              <a:gd name="adj" fmla="val 1176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6217920" y="3566160"/>
            <a:ext cx="457200" cy="457200"/>
          </a:xfrm>
          <a:prstGeom prst="ellipse">
            <a:avLst/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33" name="Image 5" descr="./icons/database_cya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7648" y="3675888"/>
            <a:ext cx="237744" cy="23774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6812280" y="3483864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50" dirty="0"/>
          </a:p>
        </p:txBody>
      </p:sp>
      <p:sp>
        <p:nvSpPr>
          <p:cNvPr id="35" name="Text 27"/>
          <p:cNvSpPr txBox="1"/>
          <p:nvPr/>
        </p:nvSpPr>
        <p:spPr>
          <a:xfrm>
            <a:off x="6309360" y="408736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6080760" y="4242816"/>
            <a:ext cx="5120640" cy="621792"/>
          </a:xfrm>
          <a:prstGeom prst="roundRect">
            <a:avLst>
              <a:gd name="adj" fmla="val 1176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6217920" y="4325112"/>
            <a:ext cx="457200" cy="457200"/>
          </a:xfrm>
          <a:prstGeom prst="ellipse">
            <a:avLst/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38" name="Image 6" descr="./icons/wifi_cya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7648" y="4434840"/>
            <a:ext cx="237744" cy="237744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6812280" y="4242816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Hub</a:t>
            </a:r>
            <a:endParaRPr lang="en-US" sz="1250" dirty="0"/>
          </a:p>
        </p:txBody>
      </p:sp>
      <p:sp>
        <p:nvSpPr>
          <p:cNvPr id="40" name="Text 31"/>
          <p:cNvSpPr txBox="1"/>
          <p:nvPr/>
        </p:nvSpPr>
        <p:spPr>
          <a:xfrm>
            <a:off x="6309360" y="484632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41" name="Shape 32"/>
          <p:cNvSpPr/>
          <p:nvPr/>
        </p:nvSpPr>
        <p:spPr>
          <a:xfrm>
            <a:off x="6080760" y="5001768"/>
            <a:ext cx="5120640" cy="621792"/>
          </a:xfrm>
          <a:prstGeom prst="roundRect">
            <a:avLst>
              <a:gd name="adj" fmla="val 1176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6217920" y="5084064"/>
            <a:ext cx="457200" cy="457200"/>
          </a:xfrm>
          <a:prstGeom prst="ellipse">
            <a:avLst/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43" name="Image 7" descr="./icons/desktop_cya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7648" y="5193792"/>
            <a:ext cx="237744" cy="237744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6812280" y="5001768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Dashboard + Projector</a:t>
            </a:r>
            <a:endParaRPr lang="en-US" sz="1250" dirty="0"/>
          </a:p>
        </p:txBody>
      </p:sp>
      <p:sp>
        <p:nvSpPr>
          <p:cNvPr id="45" name="Shape 35"/>
          <p:cNvSpPr/>
          <p:nvPr/>
        </p:nvSpPr>
        <p:spPr>
          <a:xfrm>
            <a:off x="548640" y="5989320"/>
            <a:ext cx="2948026" cy="384048"/>
          </a:xfrm>
          <a:prstGeom prst="roundRect">
            <a:avLst>
              <a:gd name="adj" fmla="val 19048"/>
            </a:avLst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6" name="Text 36"/>
          <p:cNvSpPr txBox="1"/>
          <p:nvPr/>
        </p:nvSpPr>
        <p:spPr>
          <a:xfrm>
            <a:off x="548640" y="5989320"/>
            <a:ext cx="29480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 live attendance updates</a:t>
            </a:r>
            <a:endParaRPr lang="en-US" sz="1050" dirty="0"/>
          </a:p>
        </p:txBody>
      </p:sp>
      <p:sp>
        <p:nvSpPr>
          <p:cNvPr id="47" name="Shape 37"/>
          <p:cNvSpPr/>
          <p:nvPr/>
        </p:nvSpPr>
        <p:spPr>
          <a:xfrm>
            <a:off x="3661258" y="5989320"/>
            <a:ext cx="1768450" cy="384048"/>
          </a:xfrm>
          <a:prstGeom prst="roundRect">
            <a:avLst>
              <a:gd name="adj" fmla="val 19048"/>
            </a:avLst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8" name="Text 38"/>
          <p:cNvSpPr txBox="1"/>
          <p:nvPr/>
        </p:nvSpPr>
        <p:spPr>
          <a:xfrm>
            <a:off x="3661258" y="5989320"/>
            <a:ext cx="17684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polling overhead</a:t>
            </a:r>
            <a:endParaRPr lang="en-US" sz="1050" dirty="0"/>
          </a:p>
        </p:txBody>
      </p:sp>
      <p:sp>
        <p:nvSpPr>
          <p:cNvPr id="49" name="Shape 39"/>
          <p:cNvSpPr/>
          <p:nvPr/>
        </p:nvSpPr>
        <p:spPr>
          <a:xfrm>
            <a:off x="5594299" y="5989320"/>
            <a:ext cx="2633472" cy="384048"/>
          </a:xfrm>
          <a:prstGeom prst="roundRect">
            <a:avLst>
              <a:gd name="adj" fmla="val 19048"/>
            </a:avLst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0" name="Text 40"/>
          <p:cNvSpPr txBox="1"/>
          <p:nvPr/>
        </p:nvSpPr>
        <p:spPr>
          <a:xfrm>
            <a:off x="5594299" y="5989320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JWT-protected WebSocket access</a:t>
            </a:r>
            <a:endParaRPr lang="en-US" sz="1050" dirty="0"/>
          </a:p>
        </p:txBody>
      </p:sp>
      <p:sp>
        <p:nvSpPr>
          <p:cNvPr id="51" name="Text 41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SmartAttend</a:t>
            </a:r>
            <a:endParaRPr lang="en-US" sz="900" dirty="0"/>
          </a:p>
        </p:txBody>
      </p:sp>
      <p:sp>
        <p:nvSpPr>
          <p:cNvPr id="52" name="Text 42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Control</a:t>
            </a:r>
            <a:endParaRPr lang="en-US" sz="900" dirty="0"/>
          </a:p>
        </p:txBody>
      </p:sp>
      <p:sp>
        <p:nvSpPr>
          <p:cNvPr id="53" name="Text 43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Attendance Data to Actionable Analytics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429000" cy="4160520"/>
          </a:xfrm>
          <a:prstGeom prst="roundRect">
            <a:avLst>
              <a:gd name="adj" fmla="val 266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6" name="Image 0" descr="./icons/graduate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4" y="19147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81051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DASHBOARD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04672" y="2596896"/>
            <a:ext cx="64008" cy="6400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69264" y="25146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Subject-wise attendance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04672" y="3081528"/>
            <a:ext cx="64008" cy="6400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69264" y="299923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conducted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04672" y="3566160"/>
            <a:ext cx="64008" cy="6400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69264" y="3483864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attended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04672" y="4050792"/>
            <a:ext cx="64008" cy="6400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69264" y="396849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percentage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04672" y="4535424"/>
            <a:ext cx="64008" cy="6400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69264" y="445312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safety calculator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04672" y="5020056"/>
            <a:ext cx="64008" cy="6400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969264" y="49377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Low-attendance awareness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206240" y="1554480"/>
            <a:ext cx="3429000" cy="4160520"/>
          </a:xfrm>
          <a:prstGeom prst="roundRect">
            <a:avLst>
              <a:gd name="adj" fmla="val 266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434840" y="1783080"/>
            <a:ext cx="548640" cy="548640"/>
          </a:xfrm>
          <a:prstGeom prst="ellipse">
            <a:avLst/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22" name="Image 1" descr="./icons/tie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6514" y="1914754"/>
            <a:ext cx="285293" cy="285293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5120640" y="181051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DASHBOARD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4462272" y="2596896"/>
            <a:ext cx="64008" cy="6400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4626864" y="25146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attendee count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4462272" y="3081528"/>
            <a:ext cx="64008" cy="6400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4626864" y="299923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student roster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4462272" y="3566160"/>
            <a:ext cx="64008" cy="6400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4626864" y="3483864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4462272" y="4050792"/>
            <a:ext cx="64008" cy="6400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4626864" y="396849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attendance override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4462272" y="4535424"/>
            <a:ext cx="64008" cy="6400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4626864" y="445312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analytics</a:t>
            </a:r>
            <a:endParaRPr lang="en-US" sz="1150" dirty="0"/>
          </a:p>
        </p:txBody>
      </p:sp>
      <p:sp>
        <p:nvSpPr>
          <p:cNvPr id="34" name="Shape 30"/>
          <p:cNvSpPr/>
          <p:nvPr/>
        </p:nvSpPr>
        <p:spPr>
          <a:xfrm>
            <a:off x="4462272" y="5020056"/>
            <a:ext cx="64008" cy="6400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4626864" y="49377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Excel/CSV export</a:t>
            </a:r>
            <a:endParaRPr lang="en-US" sz="1150" dirty="0"/>
          </a:p>
        </p:txBody>
      </p:sp>
      <p:sp>
        <p:nvSpPr>
          <p:cNvPr id="36" name="Shape 32"/>
          <p:cNvSpPr/>
          <p:nvPr/>
        </p:nvSpPr>
        <p:spPr>
          <a:xfrm>
            <a:off x="7863840" y="1554480"/>
            <a:ext cx="3429000" cy="4160520"/>
          </a:xfrm>
          <a:prstGeom prst="roundRect">
            <a:avLst>
              <a:gd name="adj" fmla="val 266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8092440" y="1783080"/>
            <a:ext cx="548640" cy="548640"/>
          </a:xfrm>
          <a:prstGeom prst="ellipse">
            <a:avLst/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38" name="Image 2" descr="./icons/cog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4114" y="1914754"/>
            <a:ext cx="285293" cy="285293"/>
          </a:xfrm>
          <a:prstGeom prst="rect">
            <a:avLst/>
          </a:prstGeom>
        </p:spPr>
      </p:pic>
      <p:sp>
        <p:nvSpPr>
          <p:cNvPr id="39" name="Text 34"/>
          <p:cNvSpPr txBox="1"/>
          <p:nvPr/>
        </p:nvSpPr>
        <p:spPr>
          <a:xfrm>
            <a:off x="8778240" y="181051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250" dirty="0"/>
          </a:p>
        </p:txBody>
      </p:sp>
      <p:sp>
        <p:nvSpPr>
          <p:cNvPr id="40" name="Shape 35"/>
          <p:cNvSpPr/>
          <p:nvPr/>
        </p:nvSpPr>
        <p:spPr>
          <a:xfrm>
            <a:off x="8119872" y="2596896"/>
            <a:ext cx="64008" cy="6400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1" name="Text 36"/>
          <p:cNvSpPr txBox="1"/>
          <p:nvPr/>
        </p:nvSpPr>
        <p:spPr>
          <a:xfrm>
            <a:off x="8284464" y="25146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summaries</a:t>
            </a:r>
            <a:endParaRPr lang="en-US" sz="1150" dirty="0"/>
          </a:p>
        </p:txBody>
      </p:sp>
      <p:sp>
        <p:nvSpPr>
          <p:cNvPr id="42" name="Shape 37"/>
          <p:cNvSpPr/>
          <p:nvPr/>
        </p:nvSpPr>
        <p:spPr>
          <a:xfrm>
            <a:off x="8119872" y="3081528"/>
            <a:ext cx="64008" cy="6400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3" name="Text 38"/>
          <p:cNvSpPr txBox="1"/>
          <p:nvPr/>
        </p:nvSpPr>
        <p:spPr>
          <a:xfrm>
            <a:off x="8284464" y="299923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Low-attendance alerts</a:t>
            </a:r>
            <a:endParaRPr lang="en-US" sz="1150" dirty="0"/>
          </a:p>
        </p:txBody>
      </p:sp>
      <p:sp>
        <p:nvSpPr>
          <p:cNvPr id="44" name="Shape 39"/>
          <p:cNvSpPr/>
          <p:nvPr/>
        </p:nvSpPr>
        <p:spPr>
          <a:xfrm>
            <a:off x="8119872" y="3566160"/>
            <a:ext cx="64008" cy="6400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5" name="Text 40"/>
          <p:cNvSpPr txBox="1"/>
          <p:nvPr/>
        </p:nvSpPr>
        <p:spPr>
          <a:xfrm>
            <a:off x="8284464" y="3483864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rosters</a:t>
            </a:r>
            <a:endParaRPr lang="en-US" sz="1150" dirty="0"/>
          </a:p>
        </p:txBody>
      </p:sp>
      <p:sp>
        <p:nvSpPr>
          <p:cNvPr id="46" name="Shape 41"/>
          <p:cNvSpPr/>
          <p:nvPr/>
        </p:nvSpPr>
        <p:spPr>
          <a:xfrm>
            <a:off x="8119872" y="4050792"/>
            <a:ext cx="64008" cy="6400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7" name="Text 42"/>
          <p:cNvSpPr txBox="1"/>
          <p:nvPr/>
        </p:nvSpPr>
        <p:spPr>
          <a:xfrm>
            <a:off x="8284464" y="396849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 management</a:t>
            </a:r>
            <a:endParaRPr lang="en-US" sz="1150" dirty="0"/>
          </a:p>
        </p:txBody>
      </p:sp>
      <p:sp>
        <p:nvSpPr>
          <p:cNvPr id="48" name="Shape 43"/>
          <p:cNvSpPr/>
          <p:nvPr/>
        </p:nvSpPr>
        <p:spPr>
          <a:xfrm>
            <a:off x="8119872" y="4535424"/>
            <a:ext cx="64008" cy="6400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9" name="Text 44"/>
          <p:cNvSpPr txBox="1"/>
          <p:nvPr/>
        </p:nvSpPr>
        <p:spPr>
          <a:xfrm>
            <a:off x="8284464" y="445312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</a:t>
            </a:r>
            <a:endParaRPr lang="en-US" sz="1150" dirty="0"/>
          </a:p>
        </p:txBody>
      </p:sp>
      <p:sp>
        <p:nvSpPr>
          <p:cNvPr id="50" name="Text 45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SmartAttend</a:t>
            </a:r>
            <a:endParaRPr lang="en-US" sz="900" dirty="0"/>
          </a:p>
        </p:txBody>
      </p:sp>
      <p:sp>
        <p:nvSpPr>
          <p:cNvPr id="51" name="Text 4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&amp; Analytics</a:t>
            </a:r>
            <a:endParaRPr lang="en-US" sz="900" dirty="0"/>
          </a:p>
        </p:txBody>
      </p:sp>
      <p:sp>
        <p:nvSpPr>
          <p:cNvPr id="52" name="Text 47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INTELLIGENCE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Eligibility Intelligence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Attendance % = ( Total Present / Total Conducted )  ×  100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3429000" cy="2194560"/>
          </a:xfrm>
          <a:prstGeom prst="roundRect">
            <a:avLst>
              <a:gd name="adj" fmla="val 4167"/>
            </a:avLst>
          </a:prstGeom>
          <a:solidFill>
            <a:srgbClr val="0F172A"/>
          </a:solidFill>
          <a:ln w="16510">
            <a:solidFill>
              <a:srgbClr val="34D3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43100" y="2926080"/>
            <a:ext cx="640080" cy="640080"/>
          </a:xfrm>
          <a:prstGeom prst="ellipse">
            <a:avLst/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8" name="Image 0" descr="./icons/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6719" y="3079699"/>
            <a:ext cx="332842" cy="33284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37490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1605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75.0%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06240" y="2651760"/>
            <a:ext cx="3429000" cy="2194560"/>
          </a:xfrm>
          <a:prstGeom prst="roundRect">
            <a:avLst>
              <a:gd name="adj" fmla="val 4167"/>
            </a:avLst>
          </a:prstGeom>
          <a:solidFill>
            <a:srgbClr val="0F172A"/>
          </a:solidFill>
          <a:ln w="16510">
            <a:solidFill>
              <a:srgbClr val="FBBF2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600700" y="2926080"/>
            <a:ext cx="640080" cy="640080"/>
          </a:xfrm>
          <a:prstGeom prst="ellipse">
            <a:avLst/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13" name="Image 1" descr="./icons/warning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4319" y="3079699"/>
            <a:ext cx="332842" cy="33284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206240" y="37490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4206240" y="41605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Approaching 75.0%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863840" y="2651760"/>
            <a:ext cx="3429000" cy="2194560"/>
          </a:xfrm>
          <a:prstGeom prst="roundRect">
            <a:avLst>
              <a:gd name="adj" fmla="val 4167"/>
            </a:avLst>
          </a:prstGeom>
          <a:solidFill>
            <a:srgbClr val="0F172A"/>
          </a:solidFill>
          <a:ln w="16510">
            <a:solidFill>
              <a:srgbClr val="F87171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258300" y="2926080"/>
            <a:ext cx="640080" cy="640080"/>
          </a:xfrm>
          <a:prstGeom prst="ellipse">
            <a:avLst/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18" name="Image 2" descr="./icons/ban_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1919" y="3079699"/>
            <a:ext cx="332842" cy="33284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863840" y="37490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7863840" y="41605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75.0%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5029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Threshold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5394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below 75.0% are flagged. The dashboard provides continuous attendance visibility, and the safety calculator estimates the number of consecutive lectures needed to recover above the threshold.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SmartAttend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Intelligence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by Design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331720" cy="3200400"/>
          </a:xfrm>
          <a:prstGeom prst="roundRect">
            <a:avLst>
              <a:gd name="adj" fmla="val 3922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1737360"/>
            <a:ext cx="502920" cy="502920"/>
          </a:xfrm>
          <a:prstGeom prst="ellipse">
            <a:avLst/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6" name="Image 0" descr="./icons/graduate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3741" y="1858061"/>
            <a:ext cx="261518" cy="26151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3774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13232" y="27889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QR scanning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13232" y="31546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Attendance dashboard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063240" y="1554480"/>
            <a:ext cx="2331720" cy="3200400"/>
          </a:xfrm>
          <a:prstGeom prst="roundRect">
            <a:avLst>
              <a:gd name="adj" fmla="val 3922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977640" y="1737360"/>
            <a:ext cx="502920" cy="502920"/>
          </a:xfrm>
          <a:prstGeom prst="ellipse">
            <a:avLst/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12" name="Image 1" descr="./icons/tie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8341" y="1858061"/>
            <a:ext cx="261518" cy="26151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063240" y="23774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3227832" y="27889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Session launch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3227832" y="31546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Projector QR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3227832" y="35204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Live monitoring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3227832" y="388620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Manual override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3227832" y="42519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Report export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5577840" y="1554480"/>
            <a:ext cx="2331720" cy="3200400"/>
          </a:xfrm>
          <a:prstGeom prst="roundRect">
            <a:avLst>
              <a:gd name="adj" fmla="val 3922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492240" y="1737360"/>
            <a:ext cx="502920" cy="502920"/>
          </a:xfrm>
          <a:prstGeom prst="ellipse">
            <a:avLst/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21" name="Image 2" descr="./icons/cog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2941" y="1858061"/>
            <a:ext cx="261518" cy="261518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577840" y="23774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50" dirty="0"/>
          </a:p>
        </p:txBody>
      </p:sp>
      <p:sp>
        <p:nvSpPr>
          <p:cNvPr id="23" name="Text 18"/>
          <p:cNvSpPr txBox="1"/>
          <p:nvPr/>
        </p:nvSpPr>
        <p:spPr>
          <a:xfrm>
            <a:off x="5742432" y="27889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Timetable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5742432" y="31546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Class roster</a:t>
            </a:r>
            <a:endParaRPr lang="en-US" sz="1050" dirty="0"/>
          </a:p>
        </p:txBody>
      </p:sp>
      <p:sp>
        <p:nvSpPr>
          <p:cNvPr id="25" name="Text 20"/>
          <p:cNvSpPr txBox="1"/>
          <p:nvPr/>
        </p:nvSpPr>
        <p:spPr>
          <a:xfrm>
            <a:off x="5742432" y="35204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Low-attendance alerts</a:t>
            </a:r>
            <a:endParaRPr lang="en-US" sz="1050" dirty="0"/>
          </a:p>
        </p:txBody>
      </p:sp>
      <p:sp>
        <p:nvSpPr>
          <p:cNvPr id="26" name="Text 21"/>
          <p:cNvSpPr txBox="1"/>
          <p:nvPr/>
        </p:nvSpPr>
        <p:spPr>
          <a:xfrm>
            <a:off x="5742432" y="388620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Audit logs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7863840" y="1554480"/>
            <a:ext cx="3794760" cy="3429000"/>
          </a:xfrm>
          <a:prstGeom prst="roundRect">
            <a:avLst>
              <a:gd name="adj" fmla="val 2667"/>
            </a:avLst>
          </a:prstGeom>
          <a:solidFill>
            <a:srgbClr val="16213A"/>
          </a:solidFill>
          <a:ln w="15240">
            <a:solidFill>
              <a:srgbClr val="22D3EE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8046720" y="16916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TECHNOLOGIES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8065008" y="2157984"/>
            <a:ext cx="54864" cy="5486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8229600" y="208483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8065008" y="2464308"/>
            <a:ext cx="54864" cy="5486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8229600" y="239115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8065008" y="2770632"/>
            <a:ext cx="54864" cy="5486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8229600" y="269748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8065008" y="3076956"/>
            <a:ext cx="54864" cy="5486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8229600" y="300380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HTTP-only secure cookies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8065008" y="3383280"/>
            <a:ext cx="54864" cy="5486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8" name="Text 33"/>
          <p:cNvSpPr txBox="1"/>
          <p:nvPr/>
        </p:nvSpPr>
        <p:spPr>
          <a:xfrm>
            <a:off x="8229600" y="331012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Sliding-window rate limiting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8065008" y="3689604"/>
            <a:ext cx="54864" cy="5486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0" name="Text 35"/>
          <p:cNvSpPr txBox="1"/>
          <p:nvPr/>
        </p:nvSpPr>
        <p:spPr>
          <a:xfrm>
            <a:off x="8229600" y="361645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Database-level uniqueness</a:t>
            </a:r>
            <a:endParaRPr lang="en-US" sz="1100" dirty="0"/>
          </a:p>
        </p:txBody>
      </p:sp>
      <p:sp>
        <p:nvSpPr>
          <p:cNvPr id="41" name="Shape 36"/>
          <p:cNvSpPr/>
          <p:nvPr/>
        </p:nvSpPr>
        <p:spPr>
          <a:xfrm>
            <a:off x="8065008" y="3995928"/>
            <a:ext cx="54864" cy="5486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2" name="Text 37"/>
          <p:cNvSpPr txBox="1"/>
          <p:nvPr/>
        </p:nvSpPr>
        <p:spPr>
          <a:xfrm>
            <a:off x="8229600" y="392277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authorization</a:t>
            </a:r>
            <a:endParaRPr lang="en-US" sz="1100" dirty="0"/>
          </a:p>
        </p:txBody>
      </p:sp>
      <p:sp>
        <p:nvSpPr>
          <p:cNvPr id="43" name="Shape 38"/>
          <p:cNvSpPr/>
          <p:nvPr/>
        </p:nvSpPr>
        <p:spPr>
          <a:xfrm>
            <a:off x="8065008" y="4302252"/>
            <a:ext cx="54864" cy="5486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4" name="Text 39"/>
          <p:cNvSpPr txBox="1"/>
          <p:nvPr/>
        </p:nvSpPr>
        <p:spPr>
          <a:xfrm>
            <a:off x="8229600" y="422910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headers</a:t>
            </a:r>
            <a:endParaRPr lang="en-US" sz="1100" dirty="0"/>
          </a:p>
        </p:txBody>
      </p:sp>
      <p:sp>
        <p:nvSpPr>
          <p:cNvPr id="45" name="Shape 40"/>
          <p:cNvSpPr/>
          <p:nvPr/>
        </p:nvSpPr>
        <p:spPr>
          <a:xfrm>
            <a:off x="8065008" y="4608576"/>
            <a:ext cx="54864" cy="5486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6" name="Text 41"/>
          <p:cNvSpPr txBox="1"/>
          <p:nvPr/>
        </p:nvSpPr>
        <p:spPr>
          <a:xfrm>
            <a:off x="8229600" y="453542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sz="1100" dirty="0"/>
          </a:p>
        </p:txBody>
      </p:sp>
      <p:sp>
        <p:nvSpPr>
          <p:cNvPr id="47" name="Shape 42"/>
          <p:cNvSpPr/>
          <p:nvPr/>
        </p:nvSpPr>
        <p:spPr>
          <a:xfrm>
            <a:off x="548640" y="516636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8" name="Text 43"/>
          <p:cNvSpPr txBox="1"/>
          <p:nvPr/>
        </p:nvSpPr>
        <p:spPr>
          <a:xfrm>
            <a:off x="777240" y="516636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overrides are logged with faculty ID, student ID, timestamp and justification.</a:t>
            </a:r>
            <a:endParaRPr lang="en-US" sz="1300" dirty="0"/>
          </a:p>
        </p:txBody>
      </p:sp>
      <p:sp>
        <p:nvSpPr>
          <p:cNvPr id="49" name="Text 44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SmartAttend</a:t>
            </a:r>
            <a:endParaRPr lang="en-US" sz="900" dirty="0"/>
          </a:p>
        </p:txBody>
      </p:sp>
      <p:sp>
        <p:nvSpPr>
          <p:cNvPr id="50" name="Text 45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Design</a:t>
            </a:r>
            <a:endParaRPr lang="en-US" sz="900" dirty="0"/>
          </a:p>
        </p:txBody>
      </p:sp>
      <p:sp>
        <p:nvSpPr>
          <p:cNvPr id="51" name="Text 46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SECURITY AUDIT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Testing, QA &amp; Security Audit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0F172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19072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6060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 Scenarios Passed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51760" y="1691640"/>
            <a:ext cx="365760" cy="365760"/>
          </a:xfrm>
          <a:prstGeom prst="ellipse">
            <a:avLst/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8" name="Image 0" descr="./icons/check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9542" y="1779422"/>
            <a:ext cx="190195" cy="19019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337560" y="155448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0F172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337560" y="1719072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3474720" y="26060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 Pass Rate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40680" y="1691640"/>
            <a:ext cx="365760" cy="365760"/>
          </a:xfrm>
          <a:prstGeom prst="ellipse">
            <a:avLst/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13" name="Image 1" descr="./icons/gauge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8462" y="1779422"/>
            <a:ext cx="190195" cy="190195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126480" y="155448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0F172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126480" y="1719072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16" name="Text 12"/>
          <p:cNvSpPr txBox="1"/>
          <p:nvPr/>
        </p:nvSpPr>
        <p:spPr>
          <a:xfrm>
            <a:off x="6263640" y="26060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229600" y="1691640"/>
            <a:ext cx="365760" cy="365760"/>
          </a:xfrm>
          <a:prstGeom prst="ellipse">
            <a:avLst/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18" name="Image 2" descr="./icons/ban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7382" y="1779422"/>
            <a:ext cx="190195" cy="19019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915400" y="155448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0F172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915400" y="1719072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21" name="Text 16"/>
          <p:cNvSpPr txBox="1"/>
          <p:nvPr/>
        </p:nvSpPr>
        <p:spPr>
          <a:xfrm>
            <a:off x="9052560" y="26060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Lock Failures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11018520" y="1691640"/>
            <a:ext cx="365760" cy="365760"/>
          </a:xfrm>
          <a:prstGeom prst="ellipse">
            <a:avLst/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23" name="Image 3" descr="./icons/database_cy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06302" y="1779422"/>
            <a:ext cx="190195" cy="19019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48640" y="3611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CATEGORIES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548640" y="3977640"/>
            <a:ext cx="1464869" cy="384048"/>
          </a:xfrm>
          <a:prstGeom prst="roundRect">
            <a:avLst>
              <a:gd name="adj" fmla="val 19048"/>
            </a:avLst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548640" y="3977640"/>
            <a:ext cx="146486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2159813" y="3977640"/>
            <a:ext cx="614477" cy="384048"/>
          </a:xfrm>
          <a:prstGeom prst="roundRect">
            <a:avLst>
              <a:gd name="adj" fmla="val 19048"/>
            </a:avLst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2159813" y="3977640"/>
            <a:ext cx="61447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2920594" y="3977640"/>
            <a:ext cx="1549908" cy="384048"/>
          </a:xfrm>
          <a:prstGeom prst="roundRect">
            <a:avLst>
              <a:gd name="adj" fmla="val 19048"/>
            </a:avLst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2920594" y="3977640"/>
            <a:ext cx="15499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scans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4616806" y="3977640"/>
            <a:ext cx="1464869" cy="384048"/>
          </a:xfrm>
          <a:prstGeom prst="roundRect">
            <a:avLst>
              <a:gd name="adj" fmla="val 19048"/>
            </a:avLst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4616806" y="3977640"/>
            <a:ext cx="146486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locking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6227978" y="3977640"/>
            <a:ext cx="1209751" cy="384048"/>
          </a:xfrm>
          <a:prstGeom prst="roundRect">
            <a:avLst>
              <a:gd name="adj" fmla="val 19048"/>
            </a:avLst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6227978" y="3977640"/>
            <a:ext cx="12097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7584034" y="3977640"/>
            <a:ext cx="1719986" cy="384048"/>
          </a:xfrm>
          <a:prstGeom prst="roundRect">
            <a:avLst>
              <a:gd name="adj" fmla="val 19048"/>
            </a:avLst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7584034" y="3977640"/>
            <a:ext cx="17199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lifecycle</a:t>
            </a:r>
            <a:endParaRPr lang="en-US" sz="1050" dirty="0"/>
          </a:p>
        </p:txBody>
      </p:sp>
      <p:sp>
        <p:nvSpPr>
          <p:cNvPr id="37" name="Shape 31"/>
          <p:cNvSpPr/>
          <p:nvPr/>
        </p:nvSpPr>
        <p:spPr>
          <a:xfrm>
            <a:off x="9450324" y="3977640"/>
            <a:ext cx="1719986" cy="384048"/>
          </a:xfrm>
          <a:prstGeom prst="roundRect">
            <a:avLst>
              <a:gd name="adj" fmla="val 19048"/>
            </a:avLst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9450324" y="3977640"/>
            <a:ext cx="17199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</a:t>
            </a:r>
            <a:endParaRPr lang="en-US" sz="1050" dirty="0"/>
          </a:p>
        </p:txBody>
      </p:sp>
      <p:sp>
        <p:nvSpPr>
          <p:cNvPr id="39" name="Shape 33"/>
          <p:cNvSpPr/>
          <p:nvPr/>
        </p:nvSpPr>
        <p:spPr>
          <a:xfrm>
            <a:off x="548640" y="4434840"/>
            <a:ext cx="1805026" cy="384048"/>
          </a:xfrm>
          <a:prstGeom prst="roundRect">
            <a:avLst>
              <a:gd name="adj" fmla="val 19048"/>
            </a:avLst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548640" y="4434840"/>
            <a:ext cx="18050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security</a:t>
            </a:r>
            <a:endParaRPr lang="en-US" sz="1050" dirty="0"/>
          </a:p>
        </p:txBody>
      </p:sp>
      <p:sp>
        <p:nvSpPr>
          <p:cNvPr id="41" name="Shape 35"/>
          <p:cNvSpPr/>
          <p:nvPr/>
        </p:nvSpPr>
        <p:spPr>
          <a:xfrm>
            <a:off x="2499970" y="4434840"/>
            <a:ext cx="2230222" cy="384048"/>
          </a:xfrm>
          <a:prstGeom prst="roundRect">
            <a:avLst>
              <a:gd name="adj" fmla="val 19048"/>
            </a:avLst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2499970" y="4434840"/>
            <a:ext cx="22302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% boundaries</a:t>
            </a:r>
            <a:endParaRPr lang="en-US" sz="1050" dirty="0"/>
          </a:p>
        </p:txBody>
      </p:sp>
      <p:sp>
        <p:nvSpPr>
          <p:cNvPr id="43" name="Shape 37"/>
          <p:cNvSpPr/>
          <p:nvPr/>
        </p:nvSpPr>
        <p:spPr>
          <a:xfrm>
            <a:off x="548640" y="534924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548640" y="5349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75.00% = safe boundary        74.99% = alert boundary</a:t>
            </a:r>
            <a:endParaRPr lang="en-US" sz="1300" dirty="0"/>
          </a:p>
        </p:txBody>
      </p:sp>
      <p:sp>
        <p:nvSpPr>
          <p:cNvPr id="45" name="Text 39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SmartAttend</a:t>
            </a:r>
            <a:endParaRPr lang="en-US" sz="900" dirty="0"/>
          </a:p>
        </p:txBody>
      </p:sp>
      <p:sp>
        <p:nvSpPr>
          <p:cNvPr id="46" name="Text 40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900" dirty="0"/>
          </a:p>
        </p:txBody>
      </p:sp>
      <p:sp>
        <p:nvSpPr>
          <p:cNvPr id="47" name="Text 41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It Handle a Classroom Burst?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4343400"/>
          </a:xfrm>
          <a:prstGeom prst="roundRect">
            <a:avLst>
              <a:gd name="adj" fmla="val 210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33-STUDENT BURST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4028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Requests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023360" y="22402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 / 33 — 100%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2761488"/>
            <a:ext cx="4892040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7889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Response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023360" y="2788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18.4 ms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7240" y="3310128"/>
            <a:ext cx="4892040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33756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023360" y="33375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34.2 ms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77240" y="3858768"/>
            <a:ext cx="4892040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88620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023360" y="38862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42.1 ms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77240" y="4407408"/>
            <a:ext cx="4892040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43484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Lock Errors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023360" y="44348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77240" y="4956048"/>
            <a:ext cx="4892040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98348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023360" y="4983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77240" y="5504688"/>
            <a:ext cx="4892040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80760" y="1508760"/>
            <a:ext cx="5349240" cy="4343400"/>
          </a:xfrm>
          <a:prstGeom prst="roundRect">
            <a:avLst>
              <a:gd name="adj" fmla="val 210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09360" y="16916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60-STUDENT STRESS BURST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309360" y="224028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Requests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9555480" y="22402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/ 60 — 100%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309360" y="2761488"/>
            <a:ext cx="4892040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09360" y="27889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Response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9555480" y="2788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22.8 ms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309360" y="3310128"/>
            <a:ext cx="4892040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309360" y="333756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9555480" y="33375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41.5 ms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309360" y="3858768"/>
            <a:ext cx="4892040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309360" y="388620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9555480" y="38862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48.6 ms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309360" y="4407408"/>
            <a:ext cx="4892040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309360" y="443484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Lock Errors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9555480" y="44348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309360" y="4956048"/>
            <a:ext cx="4892040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309360" y="498348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Records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9555480" y="4983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6309360" y="5504688"/>
            <a:ext cx="4892040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SmartAttend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Benchmark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SmartAttend — Live Working Prototype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309360" cy="4343400"/>
          </a:xfrm>
          <a:prstGeom prst="roundRect">
            <a:avLst>
              <a:gd name="adj" fmla="val 210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SPACE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205740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057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0574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landing interface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251460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514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5146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timetable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297180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971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9718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Lecture/session confirmation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342900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429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4290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Rotating QR projector screen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388620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886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38862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scanning interface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434340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343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43434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attendance dashboard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" y="480060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4800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234440" y="48006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report/export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53492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actual UI screenshots from the live prototype in place of this list.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086600" y="1508760"/>
            <a:ext cx="4343400" cy="1737360"/>
          </a:xfrm>
          <a:prstGeom prst="roundRect">
            <a:avLst>
              <a:gd name="adj" fmla="val 5263"/>
            </a:avLst>
          </a:prstGeom>
          <a:solidFill>
            <a:srgbClr val="16213A"/>
          </a:solidFill>
          <a:ln w="16510">
            <a:solidFill>
              <a:srgbClr val="22D3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69480" y="1673352"/>
            <a:ext cx="731520" cy="73152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30" name="Image 0" descr="./icons/qrcode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5045" y="1848917"/>
            <a:ext cx="380390" cy="380390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8138160" y="1691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PROTOTYPE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8138160" y="19933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nsit-attendance.netlify.app</a:t>
            </a:r>
            <a:endParaRPr lang="en-US" sz="1350" dirty="0"/>
          </a:p>
        </p:txBody>
      </p:sp>
      <p:sp>
        <p:nvSpPr>
          <p:cNvPr id="33" name="Text 30"/>
          <p:cNvSpPr txBox="1"/>
          <p:nvPr/>
        </p:nvSpPr>
        <p:spPr>
          <a:xfrm>
            <a:off x="7269480" y="260604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or click to open the working demo.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7086600" y="342900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FLOW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7086600" y="3822192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7360920" y="371246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Login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7086600" y="4142232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7360920" y="403250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Lecture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7086600" y="4462272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7360920" y="435254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Conducting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7086600" y="4782312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7360920" y="467258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QR</a:t>
            </a:r>
            <a:endParaRPr 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7086600" y="5102352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7360920" y="499262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Scan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7086600" y="5422392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7360920" y="531266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Validation</a:t>
            </a:r>
            <a:endParaRPr lang="en-US" sz="1150" dirty="0"/>
          </a:p>
        </p:txBody>
      </p:sp>
      <p:sp>
        <p:nvSpPr>
          <p:cNvPr id="47" name="Shape 44"/>
          <p:cNvSpPr/>
          <p:nvPr/>
        </p:nvSpPr>
        <p:spPr>
          <a:xfrm>
            <a:off x="7086600" y="5742432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7360920" y="563270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Attendance Update</a:t>
            </a:r>
            <a:endParaRPr lang="en-US" sz="1150" dirty="0"/>
          </a:p>
        </p:txBody>
      </p:sp>
      <p:sp>
        <p:nvSpPr>
          <p:cNvPr id="49" name="Shape 46"/>
          <p:cNvSpPr/>
          <p:nvPr/>
        </p:nvSpPr>
        <p:spPr>
          <a:xfrm>
            <a:off x="7086600" y="6062472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7360920" y="595274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Session</a:t>
            </a:r>
            <a:endParaRPr lang="en-US" sz="1150" dirty="0"/>
          </a:p>
        </p:txBody>
      </p:sp>
      <p:sp>
        <p:nvSpPr>
          <p:cNvPr id="51" name="Shape 48"/>
          <p:cNvSpPr/>
          <p:nvPr/>
        </p:nvSpPr>
        <p:spPr>
          <a:xfrm>
            <a:off x="7086600" y="6382512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2" name="Text 49"/>
          <p:cNvSpPr txBox="1"/>
          <p:nvPr/>
        </p:nvSpPr>
        <p:spPr>
          <a:xfrm>
            <a:off x="7360920" y="627278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Report</a:t>
            </a:r>
            <a:endParaRPr lang="en-US" sz="1150" dirty="0"/>
          </a:p>
        </p:txBody>
      </p:sp>
      <p:sp>
        <p:nvSpPr>
          <p:cNvPr id="53" name="Text 50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SmartAttend</a:t>
            </a:r>
            <a:endParaRPr lang="en-US" sz="900" dirty="0"/>
          </a:p>
        </p:txBody>
      </p:sp>
      <p:sp>
        <p:nvSpPr>
          <p:cNvPr id="54" name="Text 51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Prototype &amp; Demo</a:t>
            </a:r>
            <a:endParaRPr lang="en-US" sz="900" dirty="0"/>
          </a:p>
        </p:txBody>
      </p:sp>
      <p:sp>
        <p:nvSpPr>
          <p:cNvPr id="55" name="Text 52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91640"/>
            <a:ext cx="457200" cy="457200"/>
          </a:xfrm>
          <a:prstGeom prst="ellipse">
            <a:avLst/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6" name="Image 0" descr="./icons/desktop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801368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6916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22199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· React 18 · TypeScript · Tailwind CSS · Lucide React · html5-qrcode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06240" y="150876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89120" y="1691640"/>
            <a:ext cx="457200" cy="457200"/>
          </a:xfrm>
          <a:prstGeom prst="ellipse">
            <a:avLst/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11" name="Image 1" descr="./icons/server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848" y="180136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983480" y="16916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4389120" y="222199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3.11+ · FastAPI · Pydantic v2 · SQLAlchemy · Uvicorn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863840" y="150876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46720" y="1691640"/>
            <a:ext cx="457200" cy="457200"/>
          </a:xfrm>
          <a:prstGeom prst="ellipse">
            <a:avLst/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16" name="Image 2" descr="./icons/shield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6448" y="180136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641080" y="16916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8046720" y="222199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· Bcrypt · HMAC-SHA256 · HTTP-only Cookies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15468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31520" y="3337560"/>
            <a:ext cx="457200" cy="457200"/>
          </a:xfrm>
          <a:prstGeom prst="ellipse">
            <a:avLst/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21" name="Image 3" descr="./icons/database_cy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344728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25880" y="33375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731520" y="386791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WAL · PostgreSQL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06240" y="315468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389120" y="3337560"/>
            <a:ext cx="457200" cy="457200"/>
          </a:xfrm>
          <a:prstGeom prst="ellipse">
            <a:avLst/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26" name="Image 4" descr="./icons/wifi_cy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8848" y="3447288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983480" y="33375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4389120" y="386791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WebSockets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7863840" y="315468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046720" y="3337560"/>
            <a:ext cx="457200" cy="457200"/>
          </a:xfrm>
          <a:prstGeom prst="ellipse">
            <a:avLst/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31" name="Image 5" descr="./icons/excel_cya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56448" y="3447288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641080" y="33375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8046720" y="386791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OpenPyXL · Pandas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548640" y="480060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731520" y="4983480"/>
            <a:ext cx="457200" cy="457200"/>
          </a:xfrm>
          <a:prstGeom prst="ellipse">
            <a:avLst/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36" name="Image 6" descr="./icons/cloud_cya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248" y="5093208"/>
            <a:ext cx="237744" cy="237744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325880" y="49834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38" name="Text 29"/>
          <p:cNvSpPr txBox="1"/>
          <p:nvPr/>
        </p:nvSpPr>
        <p:spPr>
          <a:xfrm>
            <a:off x="731520" y="551383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Docker Compose · Netlify · Render</a:t>
            </a:r>
            <a:endParaRPr lang="en-US" sz="1050" dirty="0"/>
          </a:p>
        </p:txBody>
      </p:sp>
      <p:sp>
        <p:nvSpPr>
          <p:cNvPr id="39" name="Text 30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SmartAttend</a:t>
            </a:r>
            <a:endParaRPr lang="en-US" sz="900" dirty="0"/>
          </a:p>
        </p:txBody>
      </p:sp>
      <p:sp>
        <p:nvSpPr>
          <p:cNvPr id="40" name="Text 31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41" name="Text 32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2286000"/>
            <a:ext cx="6400800" cy="6400800"/>
          </a:xfrm>
          <a:prstGeom prst="ellipse">
            <a:avLst/>
          </a:prstGeom>
          <a:solidFill>
            <a:srgbClr val="0F172A">
              <a:alpha val="6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ROADMAP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SmartAttend — From Attendance to Secure Digital Infrastructure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066544" cy="685800"/>
          </a:xfrm>
          <a:prstGeom prst="roundRect">
            <a:avLst>
              <a:gd name="adj" fmla="val 1066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6002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Security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596896" y="1600200"/>
            <a:ext cx="173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52344" y="1600200"/>
            <a:ext cx="2066544" cy="685800"/>
          </a:xfrm>
          <a:prstGeom prst="roundRect">
            <a:avLst>
              <a:gd name="adj" fmla="val 1066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25496" y="16002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Integrity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1600200"/>
            <a:ext cx="173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956048" y="1600200"/>
            <a:ext cx="2066544" cy="685800"/>
          </a:xfrm>
          <a:prstGeom prst="roundRect">
            <a:avLst>
              <a:gd name="adj" fmla="val 1066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0" y="16002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Communication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004304" y="1600200"/>
            <a:ext cx="173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159752" y="1600200"/>
            <a:ext cx="2066544" cy="685800"/>
          </a:xfrm>
          <a:prstGeom prst="roundRect">
            <a:avLst>
              <a:gd name="adj" fmla="val 1066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32904" y="16002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Reporting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9208008" y="1600200"/>
            <a:ext cx="173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363456" y="1600200"/>
            <a:ext cx="2066544" cy="685800"/>
          </a:xfrm>
          <a:prstGeom prst="roundRect">
            <a:avLst>
              <a:gd name="adj" fmla="val 1066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436608" y="16002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 Intelligence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2423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create a secure and efficient classroom attendance platform.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0632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ACHIEVEMENTS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42900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353872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" y="4023360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 scenarios passed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0" y="342900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200400" y="353872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3310128" y="4023360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 pass rate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852160" y="342900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852160" y="353872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18.4 ms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5961888" y="4023360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response — 33-student benchmark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503920" y="342900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503920" y="353872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400" dirty="0"/>
          </a:p>
        </p:txBody>
      </p:sp>
      <p:sp>
        <p:nvSpPr>
          <p:cNvPr id="32" name="Text 30"/>
          <p:cNvSpPr txBox="1"/>
          <p:nvPr/>
        </p:nvSpPr>
        <p:spPr>
          <a:xfrm>
            <a:off x="8613648" y="4023360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records in tested bursts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47091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PHASE-2 ROADMAP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5074920"/>
            <a:ext cx="3502152" cy="868680"/>
          </a:xfrm>
          <a:prstGeom prst="roundRect">
            <a:avLst>
              <a:gd name="adj" fmla="val 8421"/>
            </a:avLst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5800" y="5230368"/>
            <a:ext cx="548640" cy="54864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36" name="Image 0" descr="./icons/wifi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74" y="5362042"/>
            <a:ext cx="285293" cy="285293"/>
          </a:xfrm>
          <a:prstGeom prst="rect">
            <a:avLst/>
          </a:prstGeom>
        </p:spPr>
      </p:pic>
      <p:sp>
        <p:nvSpPr>
          <p:cNvPr id="37" name="Text 34"/>
          <p:cNvSpPr txBox="1"/>
          <p:nvPr/>
        </p:nvSpPr>
        <p:spPr>
          <a:xfrm>
            <a:off x="1325880" y="5074920"/>
            <a:ext cx="2587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BSSID / Geofence Cross-Validation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4233672" y="5074920"/>
            <a:ext cx="3502152" cy="868680"/>
          </a:xfrm>
          <a:prstGeom prst="roundRect">
            <a:avLst>
              <a:gd name="adj" fmla="val 8421"/>
            </a:avLst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370832" y="5230368"/>
            <a:ext cx="548640" cy="54864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40" name="Image 1" descr="./icons/bolt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2506" y="5362042"/>
            <a:ext cx="285293" cy="285293"/>
          </a:xfrm>
          <a:prstGeom prst="rect">
            <a:avLst/>
          </a:prstGeom>
        </p:spPr>
      </p:pic>
      <p:sp>
        <p:nvSpPr>
          <p:cNvPr id="41" name="Text 37"/>
          <p:cNvSpPr txBox="1"/>
          <p:nvPr/>
        </p:nvSpPr>
        <p:spPr>
          <a:xfrm>
            <a:off x="5010912" y="5074920"/>
            <a:ext cx="2587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/ SMS / WhatsApp Attendance Notifications</a:t>
            </a:r>
            <a:endParaRPr lang="en-US" sz="1050" dirty="0"/>
          </a:p>
        </p:txBody>
      </p:sp>
      <p:sp>
        <p:nvSpPr>
          <p:cNvPr id="42" name="Shape 38"/>
          <p:cNvSpPr/>
          <p:nvPr/>
        </p:nvSpPr>
        <p:spPr>
          <a:xfrm>
            <a:off x="7918704" y="5074920"/>
            <a:ext cx="3502152" cy="868680"/>
          </a:xfrm>
          <a:prstGeom prst="roundRect">
            <a:avLst>
              <a:gd name="adj" fmla="val 8421"/>
            </a:avLst>
          </a:prstGeom>
          <a:solidFill>
            <a:srgbClr val="16213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8055864" y="5230368"/>
            <a:ext cx="548640" cy="54864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44" name="Image 2" descr="./icons/fingerprint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7538" y="5362042"/>
            <a:ext cx="285293" cy="285293"/>
          </a:xfrm>
          <a:prstGeom prst="rect">
            <a:avLst/>
          </a:prstGeom>
        </p:spPr>
      </p:pic>
      <p:sp>
        <p:nvSpPr>
          <p:cNvPr id="45" name="Text 40"/>
          <p:cNvSpPr txBox="1"/>
          <p:nvPr/>
        </p:nvSpPr>
        <p:spPr>
          <a:xfrm>
            <a:off x="8695944" y="5074920"/>
            <a:ext cx="2587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Edge Fallback</a:t>
            </a:r>
            <a:endParaRPr lang="en-US" sz="1050" dirty="0"/>
          </a:p>
        </p:txBody>
      </p:sp>
      <p:sp>
        <p:nvSpPr>
          <p:cNvPr id="46" name="Text 41"/>
          <p:cNvSpPr txBox="1"/>
          <p:nvPr/>
        </p:nvSpPr>
        <p:spPr>
          <a:xfrm>
            <a:off x="548640" y="6172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"Smart Attendance. Strong Security. Real-Time Control."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1874</Words>
  <Application>Microsoft Office PowerPoint</Application>
  <PresentationFormat>Widescreen</PresentationFormat>
  <Paragraphs>452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MANN THAKKAR</cp:lastModifiedBy>
  <cp:revision>2</cp:revision>
  <dcterms:created xsi:type="dcterms:W3CDTF">2026-09-18T10:50:22Z</dcterms:created>
  <dcterms:modified xsi:type="dcterms:W3CDTF">2026-09-18T10:53:50Z</dcterms:modified>
</cp:coreProperties>
</file>